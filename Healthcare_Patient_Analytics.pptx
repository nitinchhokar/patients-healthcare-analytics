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A417DF1-7CFB-F21D-575B-D893B2152B57}">
          <p14:sldIdLst>
            <p14:sldId id="256"/>
          </p14:sldIdLst>
        </p14:section>
        <p14:section name="Foundation" id="{B50474CB-6666-F769-11F3-AE03ABE0ADFC}">
          <p14:sldIdLst>
            <p14:sldId id="257"/>
            <p14:sldId id="258"/>
          </p14:sldIdLst>
        </p14:section>
        <p14:section name="Method" id="{C0E02B25-8CFE-33B1-689A-ACFC8FA1E63D}">
          <p14:sldIdLst>
            <p14:sldId id="259"/>
            <p14:sldId id="260"/>
            <p14:sldId id="261"/>
          </p14:sldIdLst>
        </p14:section>
        <p14:section name="Power BI Dashboard" id="{AF5B37CE-9484-5845-EBDD-71B9FCFE7C5B}">
          <p14:sldIdLst>
            <p14:sldId id="262"/>
            <p14:sldId id="263"/>
          </p14:sldIdLst>
        </p14:section>
        <p14:section name="Findings &amp; Close" id="{F346334D-0DFC-96C9-92CA-E3B771BA335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666"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70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one healthcare admissions dataset analysed with three tools. Source: Kaggle healthcare dataset. Findings describe patterns in this dataset only.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deliverables from the project document. Stress the scope limits: no employee data, no treatment effectiveness or readmission claims, no causal or clinical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figures: 55,500 rows, 15 columns, 0 missing values, 534 duplicate records. Even with no missing data, reliability was reduced by duplicates, inconsistent text formats and unusual billing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55,500 original rows, 534 duplicate records removed, 54,966 clean records, 106 nonpositive billing records flagged for review. Raw file preserved; each cleaning decision documented.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groups and length of stay are derived fields; length of stay comes from admission and discharge dates and is validated before use. EDA themes are as listed in the project document. Specific category counts, billing statistics and monthly figures were not in the supplied materials, so they are not shown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document lists the techniques: filtering, aggregation, grouping, CASE statements, date calculations and ranking. The 'used for' lines connect each technique to the project themes (conditions, admission types, insurance, billing, length of stay). The exact query text was not in the supplied files.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core deliverable. Its scope per the project document: key admission counts, billing summaries, length-of-stay patterns, and breakdowns by medical condition, admission type and insurance provider; totals validated against Python and SQL. Insert actual screenshots from the Power BI file here — none were supplied, so none are invented.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answers one business question using the breakdowns named in the project document. Replace placeholders with the real chart screenshots. Medication counts and test-result counts were mentioned in the request but are not in the supplied project document, so they are not presented as dashboard content; confirm before adding.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come directly from the project document. Findings are descriptive patterns in this dataset only. 106 nonpositive billing records are flagged for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pipeline and its limits. Recommendations are process-focused and follow from the cleaning and validation work; they are not clinical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accent1"/>
          </a:solidFill>
          <a:ln/>
        </p:spPr>
      </p:sp>
      <p:sp>
        <p:nvSpPr>
          <p:cNvPr id="3" name="Shape 1"/>
          <p:cNvSpPr/>
          <p:nvPr/>
        </p:nvSpPr>
        <p:spPr>
          <a:xfrm>
            <a:off x="5943600" y="0"/>
            <a:ext cx="3200400" cy="109728"/>
          </a:xfrm>
          <a:prstGeom prst="rect">
            <a:avLst/>
          </a:prstGeom>
          <a:solidFill>
            <a:schemeClr val="accent2"/>
          </a:solidFill>
          <a:ln/>
        </p:spPr>
      </p:sp>
      <p:sp>
        <p:nvSpPr>
          <p:cNvPr id="4" name="Shape 2"/>
          <p:cNvSpPr/>
          <p:nvPr/>
        </p:nvSpPr>
        <p:spPr>
          <a:xfrm>
            <a:off x="457200" y="4754880"/>
            <a:ext cx="8229600" cy="0"/>
          </a:xfrm>
          <a:prstGeom prst="line">
            <a:avLst/>
          </a:prstGeom>
          <a:noFill/>
          <a:ln w="9525">
            <a:solidFill>
              <a:srgbClr val="D5E3EC"/>
            </a:solidFill>
            <a:prstDash val="solid"/>
          </a:ln>
        </p:spPr>
      </p:sp>
      <p:sp>
        <p:nvSpPr>
          <p:cNvPr id="5" name="Text 3"/>
          <p:cNvSpPr/>
          <p:nvPr/>
        </p:nvSpPr>
        <p:spPr>
          <a:xfrm>
            <a:off x="457200" y="4800600"/>
            <a:ext cx="5486400" cy="228600"/>
          </a:xfrm>
          <a:prstGeom prst="rect">
            <a:avLst/>
          </a:prstGeom>
          <a:noFill/>
          <a:ln/>
        </p:spPr>
        <p:txBody>
          <a:bodyPr wrap="square" lIns="0" tIns="0" rIns="0" bIns="0" rtlCol="0" anchor="ctr"/>
          <a:lstStyle/>
          <a:p>
            <a:pPr marL="0" indent="0">
              <a:buNone/>
            </a:pPr>
            <a:r>
              <a:rPr lang="en-US" sz="900" dirty="0">
                <a:solidFill>
                  <a:schemeClr val="accent5"/>
                </a:solidFill>
              </a:rPr>
              <a:t>Healthcare Patient Analytics  |  Python · MySQL · Power BI</a:t>
            </a:r>
            <a:endParaRPr lang="en-US" sz="900" dirty="0"/>
          </a:p>
        </p:txBody>
      </p:sp>
      <p:sp>
        <p:nvSpPr>
          <p:cNvPr id="6" name="Text 4"/>
          <p:cNvSpPr>
            <a:spLocks noGrp="1"/>
          </p:cNvSpPr>
          <p:nvPr>
            <p:ph type="title" idx="104" hasCustomPrompt="1"/>
          </p:nvPr>
        </p:nvSpPr>
        <p:spPr>
          <a:xfrm>
            <a:off x="457200" y="457200"/>
            <a:ext cx="8229600" cy="59436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chemeClr val="tx2"/>
          </a:solidFill>
          <a:ln/>
        </p:spPr>
      </p:sp>
      <p:sp>
        <p:nvSpPr>
          <p:cNvPr id="3" name="Shape 1"/>
          <p:cNvSpPr/>
          <p:nvPr/>
        </p:nvSpPr>
        <p:spPr>
          <a:xfrm>
            <a:off x="0" y="0"/>
            <a:ext cx="164592" cy="5143500"/>
          </a:xfrm>
          <a:prstGeom prst="rect">
            <a:avLst/>
          </a:prstGeom>
          <a:solidFill>
            <a:schemeClr val="accent2"/>
          </a:solidFill>
          <a:ln/>
        </p:spPr>
      </p:sp>
      <p:sp>
        <p:nvSpPr>
          <p:cNvPr id="4" name="Text 2"/>
          <p:cNvSpPr>
            <a:spLocks noGrp="1"/>
          </p:cNvSpPr>
          <p:nvPr>
            <p:ph type="title" idx="102" hasCustomPrompt="1"/>
          </p:nvPr>
        </p:nvSpPr>
        <p:spPr>
          <a:xfrm>
            <a:off x="548640" y="1234440"/>
            <a:ext cx="5029200" cy="109728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1.png"/><Relationship Id="rId4" Type="http://schemas.openxmlformats.org/officeDocument/2006/relationships/image" Target="../media/image14.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50292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HEALTHCARE DATA ANALYTICS  ·  2026</a:t>
            </a:r>
            <a:endParaRPr lang="en-US" sz="1100" dirty="0"/>
          </a:p>
        </p:txBody>
      </p:sp>
      <p:sp>
        <p:nvSpPr>
          <p:cNvPr id="3" name="Text 2"/>
          <p:cNvSpPr>
            <a:spLocks noGrp="1"/>
          </p:cNvSpPr>
          <p:nvPr>
            <p:ph type="title" idx="102" hasCustomPrompt="1"/>
          </p:nvPr>
        </p:nvSpPr>
        <p:spPr>
          <a:xfrm>
            <a:off x="548640" y="1234440"/>
            <a:ext cx="5029200" cy="1097280"/>
          </a:xfrm>
          <a:prstGeom prst="rect">
            <a:avLst/>
          </a:prstGeom>
          <a:noFill/>
          <a:ln/>
        </p:spPr>
        <p:txBody>
          <a:bodyPr wrap="square" lIns="0" tIns="0" rIns="0" bIns="0" rtlCol="0" anchor="t"/>
          <a:lstStyle/>
          <a:p>
            <a:pPr marL="0" indent="0" algn="l">
              <a:buNone/>
            </a:pPr>
            <a:r>
              <a:rPr lang="en-US" sz="3600" b="1" dirty="0">
                <a:solidFill>
                  <a:schemeClr val="tx2"/>
                </a:solidFill>
              </a:rPr>
              <a:t>Healthcare Patient Analytics</a:t>
            </a:r>
            <a:endParaRPr lang="en-US" sz="3600" dirty="0"/>
          </a:p>
        </p:txBody>
      </p:sp>
      <p:sp>
        <p:nvSpPr>
          <p:cNvPr id="4" name="Text 2"/>
          <p:cNvSpPr txBox="1"/>
          <p:nvPr/>
        </p:nvSpPr>
        <p:spPr>
          <a:xfrm>
            <a:off x="548640" y="2377440"/>
            <a:ext cx="5029200" cy="822960"/>
          </a:xfrm>
          <a:prstGeom prst="rect">
            <a:avLst/>
          </a:prstGeom>
          <a:noFill/>
          <a:ln/>
        </p:spPr>
        <p:txBody>
          <a:bodyPr wrap="square" lIns="0" tIns="0" rIns="0" bIns="0" rtlCol="0" anchor="t"/>
          <a:lstStyle/>
          <a:p>
            <a:pPr marL="0" indent="0">
              <a:buNone/>
            </a:pPr>
            <a:r>
              <a:rPr lang="en-US" sz="2000" b="1" dirty="0">
                <a:solidFill>
                  <a:schemeClr val="accent2"/>
                </a:solidFill>
              </a:rPr>
              <a:t>One Dataset, Three Tools —</a:t>
            </a:r>
            <a:endParaRPr lang="en-US" sz="2000" dirty="0"/>
          </a:p>
          <a:p>
            <a:pPr marL="0" indent="0">
              <a:buNone/>
            </a:pPr>
            <a:r>
              <a:rPr lang="en-US" sz="2000" b="1" dirty="0">
                <a:solidFill>
                  <a:schemeClr val="accent2"/>
                </a:solidFill>
              </a:rPr>
              <a:t>Python, MySQL, and Power BI</a:t>
            </a:r>
            <a:endParaRPr lang="en-US" sz="2000" dirty="0"/>
          </a:p>
        </p:txBody>
      </p:sp>
      <p:sp>
        <p:nvSpPr>
          <p:cNvPr id="5" name="Text 3"/>
          <p:cNvSpPr txBox="1"/>
          <p:nvPr/>
        </p:nvSpPr>
        <p:spPr>
          <a:xfrm>
            <a:off x="548640" y="3291840"/>
            <a:ext cx="4754880" cy="548640"/>
          </a:xfrm>
          <a:prstGeom prst="rect">
            <a:avLst/>
          </a:prstGeom>
          <a:noFill/>
          <a:ln/>
        </p:spPr>
        <p:txBody>
          <a:bodyPr wrap="square" lIns="0" tIns="0" rIns="0" bIns="0" rtlCol="0" anchor="t"/>
          <a:lstStyle/>
          <a:p>
            <a:pPr marL="0" indent="0">
              <a:buNone/>
            </a:pPr>
            <a:r>
              <a:rPr lang="en-US" sz="1300" dirty="0">
                <a:solidFill>
                  <a:schemeClr val="accent5"/>
                </a:solidFill>
              </a:rPr>
              <a:t>From admission records to evidence-based insights for healthcare operations reporting.</a:t>
            </a:r>
            <a:endParaRPr lang="en-US" sz="1300" dirty="0"/>
          </a:p>
        </p:txBody>
      </p:sp>
      <p:sp>
        <p:nvSpPr>
          <p:cNvPr id="6" name="Shape 4"/>
          <p:cNvSpPr/>
          <p:nvPr/>
        </p:nvSpPr>
        <p:spPr>
          <a:xfrm>
            <a:off x="548640" y="4023360"/>
            <a:ext cx="1097280" cy="329184"/>
          </a:xfrm>
          <a:prstGeom prst="roundRect">
            <a:avLst>
              <a:gd name="adj" fmla="val 50000"/>
            </a:avLst>
          </a:prstGeom>
          <a:solidFill>
            <a:schemeClr val="accent1"/>
          </a:solidFill>
          <a:ln/>
        </p:spPr>
      </p:sp>
      <p:sp>
        <p:nvSpPr>
          <p:cNvPr id="7" name="Text 5"/>
          <p:cNvSpPr txBox="1"/>
          <p:nvPr/>
        </p:nvSpPr>
        <p:spPr>
          <a:xfrm>
            <a:off x="548640" y="4023360"/>
            <a:ext cx="1097280" cy="329184"/>
          </a:xfrm>
          <a:prstGeom prst="rect">
            <a:avLst/>
          </a:prstGeom>
          <a:noFill/>
          <a:ln/>
        </p:spPr>
        <p:txBody>
          <a:bodyPr wrap="square" lIns="0" tIns="0" rIns="0" bIns="0" rtlCol="0" anchor="ctr"/>
          <a:lstStyle/>
          <a:p>
            <a:pPr marL="0" indent="0" algn="ctr">
              <a:buNone/>
            </a:pPr>
            <a:r>
              <a:rPr lang="en-US" sz="1100" b="1" dirty="0">
                <a:solidFill>
                  <a:schemeClr val="bg1"/>
                </a:solidFill>
              </a:rPr>
              <a:t>Python</a:t>
            </a:r>
            <a:endParaRPr lang="en-US" sz="1100" dirty="0"/>
          </a:p>
        </p:txBody>
      </p:sp>
      <p:sp>
        <p:nvSpPr>
          <p:cNvPr id="8" name="Shape 6"/>
          <p:cNvSpPr/>
          <p:nvPr/>
        </p:nvSpPr>
        <p:spPr>
          <a:xfrm>
            <a:off x="1783080" y="4023360"/>
            <a:ext cx="1097280" cy="329184"/>
          </a:xfrm>
          <a:prstGeom prst="roundRect">
            <a:avLst>
              <a:gd name="adj" fmla="val 50000"/>
            </a:avLst>
          </a:prstGeom>
          <a:solidFill>
            <a:schemeClr val="accent2"/>
          </a:solidFill>
          <a:ln/>
        </p:spPr>
      </p:sp>
      <p:sp>
        <p:nvSpPr>
          <p:cNvPr id="9" name="Text 7"/>
          <p:cNvSpPr txBox="1"/>
          <p:nvPr/>
        </p:nvSpPr>
        <p:spPr>
          <a:xfrm>
            <a:off x="1783080" y="4023360"/>
            <a:ext cx="1097280" cy="329184"/>
          </a:xfrm>
          <a:prstGeom prst="rect">
            <a:avLst/>
          </a:prstGeom>
          <a:noFill/>
          <a:ln/>
        </p:spPr>
        <p:txBody>
          <a:bodyPr wrap="square" lIns="0" tIns="0" rIns="0" bIns="0" rtlCol="0" anchor="ctr"/>
          <a:lstStyle/>
          <a:p>
            <a:pPr marL="0" indent="0" algn="ctr">
              <a:buNone/>
            </a:pPr>
            <a:r>
              <a:rPr lang="en-US" sz="1100" b="1" dirty="0">
                <a:solidFill>
                  <a:schemeClr val="bg1"/>
                </a:solidFill>
              </a:rPr>
              <a:t>MySQL</a:t>
            </a:r>
            <a:endParaRPr lang="en-US" sz="1100" dirty="0"/>
          </a:p>
        </p:txBody>
      </p:sp>
      <p:sp>
        <p:nvSpPr>
          <p:cNvPr id="10" name="Shape 8"/>
          <p:cNvSpPr/>
          <p:nvPr/>
        </p:nvSpPr>
        <p:spPr>
          <a:xfrm>
            <a:off x="3017520" y="4023360"/>
            <a:ext cx="1097280" cy="329184"/>
          </a:xfrm>
          <a:prstGeom prst="roundRect">
            <a:avLst>
              <a:gd name="adj" fmla="val 50000"/>
            </a:avLst>
          </a:prstGeom>
          <a:solidFill>
            <a:schemeClr val="accent3"/>
          </a:solidFill>
          <a:ln/>
        </p:spPr>
      </p:sp>
      <p:sp>
        <p:nvSpPr>
          <p:cNvPr id="11" name="Text 9"/>
          <p:cNvSpPr txBox="1"/>
          <p:nvPr/>
        </p:nvSpPr>
        <p:spPr>
          <a:xfrm>
            <a:off x="3017520" y="4023360"/>
            <a:ext cx="1097280" cy="329184"/>
          </a:xfrm>
          <a:prstGeom prst="rect">
            <a:avLst/>
          </a:prstGeom>
          <a:noFill/>
          <a:ln/>
        </p:spPr>
        <p:txBody>
          <a:bodyPr wrap="square" lIns="0" tIns="0" rIns="0" bIns="0" rtlCol="0" anchor="ctr"/>
          <a:lstStyle/>
          <a:p>
            <a:pPr marL="0" indent="0" algn="ctr">
              <a:buNone/>
            </a:pPr>
            <a:r>
              <a:rPr lang="en-US" sz="1100" b="1" dirty="0">
                <a:solidFill>
                  <a:schemeClr val="bg1"/>
                </a:solidFill>
              </a:rPr>
              <a:t>Power BI</a:t>
            </a:r>
            <a:endParaRPr lang="en-US" sz="1100" dirty="0"/>
          </a:p>
        </p:txBody>
      </p:sp>
      <p:sp>
        <p:nvSpPr>
          <p:cNvPr id="12" name="iconbg"/>
          <p:cNvSpPr/>
          <p:nvPr/>
        </p:nvSpPr>
        <p:spPr>
          <a:xfrm>
            <a:off x="6949440" y="640080"/>
            <a:ext cx="1097280" cy="1097280"/>
          </a:xfrm>
          <a:prstGeom prst="ellipse">
            <a:avLst/>
          </a:prstGeom>
          <a:solidFill>
            <a:schemeClr val="accent2"/>
          </a:solidFill>
          <a:ln/>
        </p:spPr>
      </p:sp>
      <p:pic>
        <p:nvPicPr>
          <p:cNvPr id="13" name="Image 0" descr="hospital icon"/>
          <p:cNvPicPr>
            <a:picLocks noChangeAspect="1"/>
          </p:cNvPicPr>
          <p:nvPr/>
        </p:nvPicPr>
        <p:blipFill>
          <a:blip r:embed="rId3"/>
          <a:stretch>
            <a:fillRect/>
          </a:stretch>
        </p:blipFill>
        <p:spPr>
          <a:xfrm>
            <a:off x="7223760" y="914400"/>
            <a:ext cx="548640" cy="548640"/>
          </a:xfrm>
          <a:prstGeom prst="rect">
            <a:avLst/>
          </a:prstGeom>
        </p:spPr>
      </p:pic>
      <p:sp>
        <p:nvSpPr>
          <p:cNvPr id="14" name="Shape 11"/>
          <p:cNvSpPr/>
          <p:nvPr/>
        </p:nvSpPr>
        <p:spPr>
          <a:xfrm>
            <a:off x="6309360" y="2011680"/>
            <a:ext cx="2377440" cy="731520"/>
          </a:xfrm>
          <a:prstGeom prst="roundRect">
            <a:avLst>
              <a:gd name="adj" fmla="val 10000"/>
            </a:avLst>
          </a:prstGeom>
          <a:solidFill>
            <a:schemeClr val="accent1"/>
          </a:solidFill>
          <a:ln/>
        </p:spPr>
      </p:sp>
      <p:sp>
        <p:nvSpPr>
          <p:cNvPr id="15" name="Text 12"/>
          <p:cNvSpPr txBox="1"/>
          <p:nvPr/>
        </p:nvSpPr>
        <p:spPr>
          <a:xfrm>
            <a:off x="6400800" y="2084832"/>
            <a:ext cx="2194560" cy="365760"/>
          </a:xfrm>
          <a:prstGeom prst="rect">
            <a:avLst/>
          </a:prstGeom>
          <a:noFill/>
          <a:ln/>
        </p:spPr>
        <p:txBody>
          <a:bodyPr wrap="square" lIns="0" tIns="0" rIns="0" bIns="0" rtlCol="0" anchor="t"/>
          <a:lstStyle/>
          <a:p>
            <a:pPr marL="0" indent="0" algn="ctr">
              <a:buNone/>
            </a:pPr>
            <a:r>
              <a:rPr lang="en-US" sz="2400" b="1" dirty="0">
                <a:solidFill>
                  <a:schemeClr val="bg1"/>
                </a:solidFill>
              </a:rPr>
              <a:t>55,500</a:t>
            </a:r>
            <a:endParaRPr lang="en-US" sz="2400" dirty="0"/>
          </a:p>
        </p:txBody>
      </p:sp>
      <p:sp>
        <p:nvSpPr>
          <p:cNvPr id="16" name="Text 13"/>
          <p:cNvSpPr txBox="1"/>
          <p:nvPr/>
        </p:nvSpPr>
        <p:spPr>
          <a:xfrm>
            <a:off x="6400800" y="2468880"/>
            <a:ext cx="2194560" cy="228600"/>
          </a:xfrm>
          <a:prstGeom prst="rect">
            <a:avLst/>
          </a:prstGeom>
          <a:noFill/>
          <a:ln/>
        </p:spPr>
        <p:txBody>
          <a:bodyPr wrap="square" lIns="0" tIns="0" rIns="0" bIns="0" rtlCol="0" anchor="t"/>
          <a:lstStyle/>
          <a:p>
            <a:pPr marL="0" indent="0" algn="ctr">
              <a:buNone/>
            </a:pPr>
            <a:r>
              <a:rPr lang="en-US" sz="1000" dirty="0">
                <a:solidFill>
                  <a:schemeClr val="accent6"/>
                </a:solidFill>
              </a:rPr>
              <a:t>raw admission rows</a:t>
            </a:r>
            <a:endParaRPr lang="en-US" sz="1000" dirty="0"/>
          </a:p>
        </p:txBody>
      </p:sp>
      <p:sp>
        <p:nvSpPr>
          <p:cNvPr id="17" name="Shape 14"/>
          <p:cNvSpPr/>
          <p:nvPr/>
        </p:nvSpPr>
        <p:spPr>
          <a:xfrm>
            <a:off x="6309360" y="2880360"/>
            <a:ext cx="2377440" cy="731520"/>
          </a:xfrm>
          <a:prstGeom prst="roundRect">
            <a:avLst>
              <a:gd name="adj" fmla="val 10000"/>
            </a:avLst>
          </a:prstGeom>
          <a:solidFill>
            <a:schemeClr val="accent1"/>
          </a:solidFill>
          <a:ln/>
        </p:spPr>
      </p:sp>
      <p:sp>
        <p:nvSpPr>
          <p:cNvPr id="18" name="Text 15"/>
          <p:cNvSpPr txBox="1"/>
          <p:nvPr/>
        </p:nvSpPr>
        <p:spPr>
          <a:xfrm>
            <a:off x="6400800" y="2953512"/>
            <a:ext cx="2194560" cy="365760"/>
          </a:xfrm>
          <a:prstGeom prst="rect">
            <a:avLst/>
          </a:prstGeom>
          <a:noFill/>
          <a:ln/>
        </p:spPr>
        <p:txBody>
          <a:bodyPr wrap="square" lIns="0" tIns="0" rIns="0" bIns="0" rtlCol="0" anchor="t"/>
          <a:lstStyle/>
          <a:p>
            <a:pPr marL="0" indent="0" algn="ctr">
              <a:buNone/>
            </a:pPr>
            <a:r>
              <a:rPr lang="en-US" sz="2400" b="1" dirty="0">
                <a:solidFill>
                  <a:schemeClr val="bg1"/>
                </a:solidFill>
              </a:rPr>
              <a:t>54,966</a:t>
            </a:r>
            <a:endParaRPr lang="en-US" sz="2400" dirty="0"/>
          </a:p>
        </p:txBody>
      </p:sp>
      <p:sp>
        <p:nvSpPr>
          <p:cNvPr id="19" name="Text 16"/>
          <p:cNvSpPr txBox="1"/>
          <p:nvPr/>
        </p:nvSpPr>
        <p:spPr>
          <a:xfrm>
            <a:off x="6400800" y="3337560"/>
            <a:ext cx="2194560" cy="228600"/>
          </a:xfrm>
          <a:prstGeom prst="rect">
            <a:avLst/>
          </a:prstGeom>
          <a:noFill/>
          <a:ln/>
        </p:spPr>
        <p:txBody>
          <a:bodyPr wrap="square" lIns="0" tIns="0" rIns="0" bIns="0" rtlCol="0" anchor="t"/>
          <a:lstStyle/>
          <a:p>
            <a:pPr marL="0" indent="0" algn="ctr">
              <a:buNone/>
            </a:pPr>
            <a:r>
              <a:rPr lang="en-US" sz="1000" dirty="0">
                <a:solidFill>
                  <a:schemeClr val="accent6"/>
                </a:solidFill>
              </a:rPr>
              <a:t>clean records</a:t>
            </a:r>
            <a:endParaRPr lang="en-US" sz="1000" dirty="0"/>
          </a:p>
        </p:txBody>
      </p:sp>
      <p:sp>
        <p:nvSpPr>
          <p:cNvPr id="20" name="Shape 17"/>
          <p:cNvSpPr/>
          <p:nvPr/>
        </p:nvSpPr>
        <p:spPr>
          <a:xfrm>
            <a:off x="6309360" y="3749040"/>
            <a:ext cx="2377440" cy="731520"/>
          </a:xfrm>
          <a:prstGeom prst="roundRect">
            <a:avLst>
              <a:gd name="adj" fmla="val 10000"/>
            </a:avLst>
          </a:prstGeom>
          <a:solidFill>
            <a:schemeClr val="accent1"/>
          </a:solidFill>
          <a:ln/>
        </p:spPr>
      </p:sp>
      <p:sp>
        <p:nvSpPr>
          <p:cNvPr id="21" name="Text 18"/>
          <p:cNvSpPr txBox="1"/>
          <p:nvPr/>
        </p:nvSpPr>
        <p:spPr>
          <a:xfrm>
            <a:off x="6400800" y="3822192"/>
            <a:ext cx="2194560" cy="365760"/>
          </a:xfrm>
          <a:prstGeom prst="rect">
            <a:avLst/>
          </a:prstGeom>
          <a:noFill/>
          <a:ln/>
        </p:spPr>
        <p:txBody>
          <a:bodyPr wrap="square" lIns="0" tIns="0" rIns="0" bIns="0" rtlCol="0" anchor="t"/>
          <a:lstStyle/>
          <a:p>
            <a:pPr marL="0" indent="0" algn="ctr">
              <a:buNone/>
            </a:pPr>
            <a:r>
              <a:rPr lang="en-US" sz="2400" b="1" dirty="0">
                <a:solidFill>
                  <a:schemeClr val="bg1"/>
                </a:solidFill>
              </a:rPr>
              <a:t>106</a:t>
            </a:r>
            <a:endParaRPr lang="en-US" sz="2400" dirty="0"/>
          </a:p>
        </p:txBody>
      </p:sp>
      <p:sp>
        <p:nvSpPr>
          <p:cNvPr id="22" name="Text 19"/>
          <p:cNvSpPr txBox="1"/>
          <p:nvPr/>
        </p:nvSpPr>
        <p:spPr>
          <a:xfrm>
            <a:off x="6400800" y="4206240"/>
            <a:ext cx="2194560" cy="228600"/>
          </a:xfrm>
          <a:prstGeom prst="rect">
            <a:avLst/>
          </a:prstGeom>
          <a:noFill/>
          <a:ln/>
        </p:spPr>
        <p:txBody>
          <a:bodyPr wrap="square" lIns="0" tIns="0" rIns="0" bIns="0" rtlCol="0" anchor="t"/>
          <a:lstStyle/>
          <a:p>
            <a:pPr marL="0" indent="0" algn="ctr">
              <a:buNone/>
            </a:pPr>
            <a:r>
              <a:rPr lang="en-US" sz="1000" dirty="0">
                <a:solidFill>
                  <a:schemeClr val="accent6"/>
                </a:solidFill>
              </a:rPr>
              <a:t>billing records flagged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PROJECT OBJECTIVES</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Turning admission records into reliable insight</a:t>
            </a:r>
            <a:endParaRPr lang="en-US" sz="2600" dirty="0"/>
          </a:p>
        </p:txBody>
      </p:sp>
      <p:sp>
        <p:nvSpPr>
          <p:cNvPr id="4" name="card"/>
          <p:cNvSpPr/>
          <p:nvPr/>
        </p:nvSpPr>
        <p:spPr>
          <a:xfrm>
            <a:off x="457200" y="1234440"/>
            <a:ext cx="3291840" cy="2606040"/>
          </a:xfrm>
          <a:prstGeom prst="roundRect">
            <a:avLst>
              <a:gd name="adj" fmla="val 2807"/>
            </a:avLst>
          </a:prstGeom>
          <a:solidFill>
            <a:schemeClr val="bg2"/>
          </a:solidFill>
          <a:ln w="9525">
            <a:solidFill>
              <a:srgbClr val="D5E3EC"/>
            </a:solidFill>
            <a:prstDash val="solid"/>
          </a:ln>
        </p:spPr>
      </p:sp>
      <p:sp>
        <p:nvSpPr>
          <p:cNvPr id="5" name="Text 3"/>
          <p:cNvSpPr txBox="1"/>
          <p:nvPr/>
        </p:nvSpPr>
        <p:spPr>
          <a:xfrm>
            <a:off x="640080" y="1371600"/>
            <a:ext cx="2926080" cy="274320"/>
          </a:xfrm>
          <a:prstGeom prst="rect">
            <a:avLst/>
          </a:prstGeom>
          <a:noFill/>
          <a:ln/>
        </p:spPr>
        <p:txBody>
          <a:bodyPr wrap="square" lIns="0" tIns="0" rIns="0" bIns="0" rtlCol="0" anchor="t"/>
          <a:lstStyle/>
          <a:p>
            <a:pPr marL="0" indent="0">
              <a:buNone/>
            </a:pPr>
            <a:r>
              <a:rPr lang="en-US" sz="1400" b="1" dirty="0">
                <a:solidFill>
                  <a:schemeClr val="accent2"/>
                </a:solidFill>
              </a:rPr>
              <a:t>The problem</a:t>
            </a:r>
            <a:endParaRPr lang="en-US" sz="1400" dirty="0"/>
          </a:p>
        </p:txBody>
      </p:sp>
      <p:sp>
        <p:nvSpPr>
          <p:cNvPr id="6" name="Text 4"/>
          <p:cNvSpPr txBox="1"/>
          <p:nvPr/>
        </p:nvSpPr>
        <p:spPr>
          <a:xfrm>
            <a:off x="640080" y="1691640"/>
            <a:ext cx="2926080" cy="1188720"/>
          </a:xfrm>
          <a:prstGeom prst="rect">
            <a:avLst/>
          </a:prstGeom>
          <a:noFill/>
          <a:ln/>
        </p:spPr>
        <p:txBody>
          <a:bodyPr wrap="square" lIns="0" tIns="0" rIns="0" bIns="0" rtlCol="0" anchor="t"/>
          <a:lstStyle/>
          <a:p>
            <a:pPr marL="0" indent="0">
              <a:buNone/>
            </a:pPr>
            <a:r>
              <a:rPr lang="en-US" sz="1200" dirty="0">
                <a:solidFill>
                  <a:schemeClr val="tx1"/>
                </a:solidFill>
              </a:rPr>
              <a:t>Admission records hold patient demographics, conditions, admission types, billing, insurance and length of stay — but duplicates, inconsistent text and unusual billing values reduce reliability.</a:t>
            </a:r>
            <a:endParaRPr lang="en-US" sz="1200" dirty="0"/>
          </a:p>
        </p:txBody>
      </p:sp>
      <p:sp>
        <p:nvSpPr>
          <p:cNvPr id="7" name="Text 5"/>
          <p:cNvSpPr txBox="1"/>
          <p:nvPr/>
        </p:nvSpPr>
        <p:spPr>
          <a:xfrm>
            <a:off x="640080" y="2926080"/>
            <a:ext cx="2926080" cy="822960"/>
          </a:xfrm>
          <a:prstGeom prst="rect">
            <a:avLst/>
          </a:prstGeom>
          <a:noFill/>
          <a:ln/>
        </p:spPr>
        <p:txBody>
          <a:bodyPr wrap="square" lIns="0" tIns="0" rIns="0" bIns="0" rtlCol="0" anchor="t"/>
          <a:lstStyle/>
          <a:p>
            <a:pPr marL="0" indent="0">
              <a:buNone/>
            </a:pPr>
            <a:r>
              <a:rPr lang="en-US" sz="1200" b="1" dirty="0">
                <a:solidFill>
                  <a:schemeClr val="tx2"/>
                </a:solidFill>
              </a:rPr>
              <a:t>Goal: clean and validate the data, then analyse admission patterns, billing amounts and length of stay.</a:t>
            </a:r>
            <a:endParaRPr lang="en-US" sz="1200" dirty="0"/>
          </a:p>
        </p:txBody>
      </p:sp>
      <p:sp>
        <p:nvSpPr>
          <p:cNvPr id="8" name="iconbg"/>
          <p:cNvSpPr/>
          <p:nvPr/>
        </p:nvSpPr>
        <p:spPr>
          <a:xfrm>
            <a:off x="4023360" y="1234440"/>
            <a:ext cx="420624" cy="420624"/>
          </a:xfrm>
          <a:prstGeom prst="ellipse">
            <a:avLst/>
          </a:prstGeom>
          <a:solidFill>
            <a:schemeClr val="accent1"/>
          </a:solidFill>
          <a:ln/>
        </p:spPr>
      </p:sp>
      <p:pic>
        <p:nvPicPr>
          <p:cNvPr id="9" name="Image 0" descr="Data cleaning &amp; validation"/>
          <p:cNvPicPr>
            <a:picLocks noChangeAspect="1"/>
          </p:cNvPicPr>
          <p:nvPr/>
        </p:nvPicPr>
        <p:blipFill>
          <a:blip r:embed="rId3"/>
          <a:stretch>
            <a:fillRect/>
          </a:stretch>
        </p:blipFill>
        <p:spPr>
          <a:xfrm>
            <a:off x="4128516" y="1339596"/>
            <a:ext cx="210312" cy="210312"/>
          </a:xfrm>
          <a:prstGeom prst="rect">
            <a:avLst/>
          </a:prstGeom>
        </p:spPr>
      </p:pic>
      <p:sp>
        <p:nvSpPr>
          <p:cNvPr id="10" name="Text 7"/>
          <p:cNvSpPr txBox="1"/>
          <p:nvPr/>
        </p:nvSpPr>
        <p:spPr>
          <a:xfrm>
            <a:off x="4572000" y="1216152"/>
            <a:ext cx="4114800" cy="256032"/>
          </a:xfrm>
          <a:prstGeom prst="rect">
            <a:avLst/>
          </a:prstGeom>
          <a:noFill/>
          <a:ln/>
        </p:spPr>
        <p:txBody>
          <a:bodyPr wrap="square" lIns="0" tIns="0" rIns="0" bIns="0" rtlCol="0" anchor="t"/>
          <a:lstStyle/>
          <a:p>
            <a:pPr marL="0" indent="0">
              <a:buNone/>
            </a:pPr>
            <a:r>
              <a:rPr lang="en-US" sz="1300" b="1" dirty="0">
                <a:solidFill>
                  <a:schemeClr val="tx2"/>
                </a:solidFill>
              </a:rPr>
              <a:t>Data cleaning &amp; validation</a:t>
            </a:r>
            <a:endParaRPr lang="en-US" sz="1300" dirty="0"/>
          </a:p>
        </p:txBody>
      </p:sp>
      <p:sp>
        <p:nvSpPr>
          <p:cNvPr id="11" name="Text 8"/>
          <p:cNvSpPr txBox="1"/>
          <p:nvPr/>
        </p:nvSpPr>
        <p:spPr>
          <a:xfrm>
            <a:off x="4572000" y="1472184"/>
            <a:ext cx="4114800" cy="201168"/>
          </a:xfrm>
          <a:prstGeom prst="rect">
            <a:avLst/>
          </a:prstGeom>
          <a:noFill/>
          <a:ln/>
        </p:spPr>
        <p:txBody>
          <a:bodyPr wrap="square" lIns="0" tIns="0" rIns="0" bIns="0" rtlCol="0" anchor="t"/>
          <a:lstStyle/>
          <a:p>
            <a:pPr marL="0" indent="0">
              <a:buNone/>
            </a:pPr>
            <a:r>
              <a:rPr lang="en-US" sz="1050" dirty="0">
                <a:solidFill>
                  <a:schemeClr val="accent5"/>
                </a:solidFill>
              </a:rPr>
              <a:t>Python · Pandas, NumPy</a:t>
            </a:r>
            <a:endParaRPr lang="en-US" sz="1050" dirty="0"/>
          </a:p>
        </p:txBody>
      </p:sp>
      <p:sp>
        <p:nvSpPr>
          <p:cNvPr id="12" name="iconbg"/>
          <p:cNvSpPr/>
          <p:nvPr/>
        </p:nvSpPr>
        <p:spPr>
          <a:xfrm>
            <a:off x="4023360" y="1764792"/>
            <a:ext cx="420624" cy="420624"/>
          </a:xfrm>
          <a:prstGeom prst="ellipse">
            <a:avLst/>
          </a:prstGeom>
          <a:solidFill>
            <a:schemeClr val="accent2"/>
          </a:solidFill>
          <a:ln/>
        </p:spPr>
      </p:sp>
      <p:pic>
        <p:nvPicPr>
          <p:cNvPr id="13" name="Image 1" descr="Data transformation"/>
          <p:cNvPicPr>
            <a:picLocks noChangeAspect="1"/>
          </p:cNvPicPr>
          <p:nvPr/>
        </p:nvPicPr>
        <p:blipFill>
          <a:blip r:embed="rId4"/>
          <a:stretch>
            <a:fillRect/>
          </a:stretch>
        </p:blipFill>
        <p:spPr>
          <a:xfrm>
            <a:off x="4128516" y="1869948"/>
            <a:ext cx="210312" cy="210312"/>
          </a:xfrm>
          <a:prstGeom prst="rect">
            <a:avLst/>
          </a:prstGeom>
        </p:spPr>
      </p:pic>
      <p:sp>
        <p:nvSpPr>
          <p:cNvPr id="14" name="Text 10"/>
          <p:cNvSpPr txBox="1"/>
          <p:nvPr/>
        </p:nvSpPr>
        <p:spPr>
          <a:xfrm>
            <a:off x="4572000" y="1746504"/>
            <a:ext cx="4114800" cy="256032"/>
          </a:xfrm>
          <a:prstGeom prst="rect">
            <a:avLst/>
          </a:prstGeom>
          <a:noFill/>
          <a:ln/>
        </p:spPr>
        <p:txBody>
          <a:bodyPr wrap="square" lIns="0" tIns="0" rIns="0" bIns="0" rtlCol="0" anchor="t"/>
          <a:lstStyle/>
          <a:p>
            <a:pPr marL="0" indent="0">
              <a:buNone/>
            </a:pPr>
            <a:r>
              <a:rPr lang="en-US" sz="1300" b="1" dirty="0">
                <a:solidFill>
                  <a:schemeClr val="tx2"/>
                </a:solidFill>
              </a:rPr>
              <a:t>Data transformation</a:t>
            </a:r>
            <a:endParaRPr lang="en-US" sz="1300" dirty="0"/>
          </a:p>
        </p:txBody>
      </p:sp>
      <p:sp>
        <p:nvSpPr>
          <p:cNvPr id="15" name="Text 11"/>
          <p:cNvSpPr txBox="1"/>
          <p:nvPr/>
        </p:nvSpPr>
        <p:spPr>
          <a:xfrm>
            <a:off x="4572000" y="2002536"/>
            <a:ext cx="4114800" cy="201168"/>
          </a:xfrm>
          <a:prstGeom prst="rect">
            <a:avLst/>
          </a:prstGeom>
          <a:noFill/>
          <a:ln/>
        </p:spPr>
        <p:txBody>
          <a:bodyPr wrap="square" lIns="0" tIns="0" rIns="0" bIns="0" rtlCol="0" anchor="t"/>
          <a:lstStyle/>
          <a:p>
            <a:pPr marL="0" indent="0">
              <a:buNone/>
            </a:pPr>
            <a:r>
              <a:rPr lang="en-US" sz="1050" dirty="0">
                <a:solidFill>
                  <a:schemeClr val="accent5"/>
                </a:solidFill>
              </a:rPr>
              <a:t>Age groups, length of stay</a:t>
            </a:r>
            <a:endParaRPr lang="en-US" sz="1050" dirty="0"/>
          </a:p>
        </p:txBody>
      </p:sp>
      <p:sp>
        <p:nvSpPr>
          <p:cNvPr id="16" name="iconbg"/>
          <p:cNvSpPr/>
          <p:nvPr/>
        </p:nvSpPr>
        <p:spPr>
          <a:xfrm>
            <a:off x="4023360" y="2295144"/>
            <a:ext cx="420624" cy="420624"/>
          </a:xfrm>
          <a:prstGeom prst="ellipse">
            <a:avLst/>
          </a:prstGeom>
          <a:solidFill>
            <a:schemeClr val="accent3"/>
          </a:solidFill>
          <a:ln/>
        </p:spPr>
      </p:sp>
      <p:pic>
        <p:nvPicPr>
          <p:cNvPr id="17" name="Image 2" descr="Exploratory data analysis"/>
          <p:cNvPicPr>
            <a:picLocks noChangeAspect="1"/>
          </p:cNvPicPr>
          <p:nvPr/>
        </p:nvPicPr>
        <p:blipFill>
          <a:blip r:embed="rId5"/>
          <a:stretch>
            <a:fillRect/>
          </a:stretch>
        </p:blipFill>
        <p:spPr>
          <a:xfrm>
            <a:off x="4128516" y="2400300"/>
            <a:ext cx="210312" cy="210312"/>
          </a:xfrm>
          <a:prstGeom prst="rect">
            <a:avLst/>
          </a:prstGeom>
        </p:spPr>
      </p:pic>
      <p:sp>
        <p:nvSpPr>
          <p:cNvPr id="18" name="Text 13"/>
          <p:cNvSpPr txBox="1"/>
          <p:nvPr/>
        </p:nvSpPr>
        <p:spPr>
          <a:xfrm>
            <a:off x="4572000" y="2276856"/>
            <a:ext cx="4114800" cy="256032"/>
          </a:xfrm>
          <a:prstGeom prst="rect">
            <a:avLst/>
          </a:prstGeom>
          <a:noFill/>
          <a:ln/>
        </p:spPr>
        <p:txBody>
          <a:bodyPr wrap="square" lIns="0" tIns="0" rIns="0" bIns="0" rtlCol="0" anchor="t"/>
          <a:lstStyle/>
          <a:p>
            <a:pPr marL="0" indent="0">
              <a:buNone/>
            </a:pPr>
            <a:r>
              <a:rPr lang="en-US" sz="1300" b="1" dirty="0">
                <a:solidFill>
                  <a:schemeClr val="tx2"/>
                </a:solidFill>
              </a:rPr>
              <a:t>Exploratory data analysis</a:t>
            </a:r>
            <a:endParaRPr lang="en-US" sz="1300" dirty="0"/>
          </a:p>
        </p:txBody>
      </p:sp>
      <p:sp>
        <p:nvSpPr>
          <p:cNvPr id="19" name="Text 14"/>
          <p:cNvSpPr txBox="1"/>
          <p:nvPr/>
        </p:nvSpPr>
        <p:spPr>
          <a:xfrm>
            <a:off x="4572000" y="2532888"/>
            <a:ext cx="4114800" cy="201168"/>
          </a:xfrm>
          <a:prstGeom prst="rect">
            <a:avLst/>
          </a:prstGeom>
          <a:noFill/>
          <a:ln/>
        </p:spPr>
        <p:txBody>
          <a:bodyPr wrap="square" lIns="0" tIns="0" rIns="0" bIns="0" rtlCol="0" anchor="t"/>
          <a:lstStyle/>
          <a:p>
            <a:pPr marL="0" indent="0">
              <a:buNone/>
            </a:pPr>
            <a:r>
              <a:rPr lang="en-US" sz="1050" dirty="0">
                <a:solidFill>
                  <a:schemeClr val="accent5"/>
                </a:solidFill>
              </a:rPr>
              <a:t>Clear charts across key themes</a:t>
            </a:r>
            <a:endParaRPr lang="en-US" sz="1050" dirty="0"/>
          </a:p>
        </p:txBody>
      </p:sp>
      <p:sp>
        <p:nvSpPr>
          <p:cNvPr id="20" name="iconbg"/>
          <p:cNvSpPr/>
          <p:nvPr/>
        </p:nvSpPr>
        <p:spPr>
          <a:xfrm>
            <a:off x="4023360" y="2825496"/>
            <a:ext cx="420624" cy="420624"/>
          </a:xfrm>
          <a:prstGeom prst="ellipse">
            <a:avLst/>
          </a:prstGeom>
          <a:solidFill>
            <a:schemeClr val="accent1"/>
          </a:solidFill>
          <a:ln/>
        </p:spPr>
      </p:sp>
      <p:pic>
        <p:nvPicPr>
          <p:cNvPr id="21" name="Image 3" descr="SQL analysis"/>
          <p:cNvPicPr>
            <a:picLocks noChangeAspect="1"/>
          </p:cNvPicPr>
          <p:nvPr/>
        </p:nvPicPr>
        <p:blipFill>
          <a:blip r:embed="rId6"/>
          <a:stretch>
            <a:fillRect/>
          </a:stretch>
        </p:blipFill>
        <p:spPr>
          <a:xfrm>
            <a:off x="4128516" y="2930652"/>
            <a:ext cx="210312" cy="210312"/>
          </a:xfrm>
          <a:prstGeom prst="rect">
            <a:avLst/>
          </a:prstGeom>
        </p:spPr>
      </p:pic>
      <p:sp>
        <p:nvSpPr>
          <p:cNvPr id="22" name="Text 16"/>
          <p:cNvSpPr txBox="1"/>
          <p:nvPr/>
        </p:nvSpPr>
        <p:spPr>
          <a:xfrm>
            <a:off x="4572000" y="2807208"/>
            <a:ext cx="4114800" cy="256032"/>
          </a:xfrm>
          <a:prstGeom prst="rect">
            <a:avLst/>
          </a:prstGeom>
          <a:noFill/>
          <a:ln/>
        </p:spPr>
        <p:txBody>
          <a:bodyPr wrap="square" lIns="0" tIns="0" rIns="0" bIns="0" rtlCol="0" anchor="t"/>
          <a:lstStyle/>
          <a:p>
            <a:pPr marL="0" indent="0">
              <a:buNone/>
            </a:pPr>
            <a:r>
              <a:rPr lang="en-US" sz="1300" b="1" dirty="0">
                <a:solidFill>
                  <a:schemeClr val="tx2"/>
                </a:solidFill>
              </a:rPr>
              <a:t>SQL analysis</a:t>
            </a:r>
            <a:endParaRPr lang="en-US" sz="1300" dirty="0"/>
          </a:p>
        </p:txBody>
      </p:sp>
      <p:sp>
        <p:nvSpPr>
          <p:cNvPr id="23" name="Text 17"/>
          <p:cNvSpPr txBox="1"/>
          <p:nvPr/>
        </p:nvSpPr>
        <p:spPr>
          <a:xfrm>
            <a:off x="4572000" y="3063240"/>
            <a:ext cx="4114800" cy="201168"/>
          </a:xfrm>
          <a:prstGeom prst="rect">
            <a:avLst/>
          </a:prstGeom>
          <a:noFill/>
          <a:ln/>
        </p:spPr>
        <p:txBody>
          <a:bodyPr wrap="square" lIns="0" tIns="0" rIns="0" bIns="0" rtlCol="0" anchor="t"/>
          <a:lstStyle/>
          <a:p>
            <a:pPr marL="0" indent="0">
              <a:buNone/>
            </a:pPr>
            <a:r>
              <a:rPr lang="en-US" sz="1050" dirty="0">
                <a:solidFill>
                  <a:schemeClr val="accent5"/>
                </a:solidFill>
              </a:rPr>
              <a:t>MySQL queries</a:t>
            </a:r>
            <a:endParaRPr lang="en-US" sz="1050" dirty="0"/>
          </a:p>
        </p:txBody>
      </p:sp>
      <p:sp>
        <p:nvSpPr>
          <p:cNvPr id="24" name="iconbg"/>
          <p:cNvSpPr/>
          <p:nvPr/>
        </p:nvSpPr>
        <p:spPr>
          <a:xfrm>
            <a:off x="4023360" y="3355848"/>
            <a:ext cx="420624" cy="420624"/>
          </a:xfrm>
          <a:prstGeom prst="ellipse">
            <a:avLst/>
          </a:prstGeom>
          <a:solidFill>
            <a:schemeClr val="accent2"/>
          </a:solidFill>
          <a:ln/>
        </p:spPr>
      </p:sp>
      <p:pic>
        <p:nvPicPr>
          <p:cNvPr id="25" name="Image 4" descr="Interactive Power BI dashboard"/>
          <p:cNvPicPr>
            <a:picLocks noChangeAspect="1"/>
          </p:cNvPicPr>
          <p:nvPr/>
        </p:nvPicPr>
        <p:blipFill>
          <a:blip r:embed="rId7"/>
          <a:stretch>
            <a:fillRect/>
          </a:stretch>
        </p:blipFill>
        <p:spPr>
          <a:xfrm>
            <a:off x="4128516" y="3461004"/>
            <a:ext cx="210312" cy="210312"/>
          </a:xfrm>
          <a:prstGeom prst="rect">
            <a:avLst/>
          </a:prstGeom>
        </p:spPr>
      </p:pic>
      <p:sp>
        <p:nvSpPr>
          <p:cNvPr id="26" name="Text 19"/>
          <p:cNvSpPr txBox="1"/>
          <p:nvPr/>
        </p:nvSpPr>
        <p:spPr>
          <a:xfrm>
            <a:off x="4572000" y="3337560"/>
            <a:ext cx="4114800" cy="256032"/>
          </a:xfrm>
          <a:prstGeom prst="rect">
            <a:avLst/>
          </a:prstGeom>
          <a:noFill/>
          <a:ln/>
        </p:spPr>
        <p:txBody>
          <a:bodyPr wrap="square" lIns="0" tIns="0" rIns="0" bIns="0" rtlCol="0" anchor="t"/>
          <a:lstStyle/>
          <a:p>
            <a:pPr marL="0" indent="0">
              <a:buNone/>
            </a:pPr>
            <a:r>
              <a:rPr lang="en-US" sz="1300" b="1" dirty="0">
                <a:solidFill>
                  <a:schemeClr val="tx2"/>
                </a:solidFill>
              </a:rPr>
              <a:t>Interactive Power BI dashboard</a:t>
            </a:r>
            <a:endParaRPr lang="en-US" sz="1300" dirty="0"/>
          </a:p>
        </p:txBody>
      </p:sp>
      <p:sp>
        <p:nvSpPr>
          <p:cNvPr id="27" name="Text 20"/>
          <p:cNvSpPr txBox="1"/>
          <p:nvPr/>
        </p:nvSpPr>
        <p:spPr>
          <a:xfrm>
            <a:off x="4572000" y="3593592"/>
            <a:ext cx="4114800" cy="201168"/>
          </a:xfrm>
          <a:prstGeom prst="rect">
            <a:avLst/>
          </a:prstGeom>
          <a:noFill/>
          <a:ln/>
        </p:spPr>
        <p:txBody>
          <a:bodyPr wrap="square" lIns="0" tIns="0" rIns="0" bIns="0" rtlCol="0" anchor="t"/>
          <a:lstStyle/>
          <a:p>
            <a:pPr marL="0" indent="0">
              <a:buNone/>
            </a:pPr>
            <a:r>
              <a:rPr lang="en-US" sz="1050" dirty="0">
                <a:solidFill>
                  <a:schemeClr val="accent5"/>
                </a:solidFill>
              </a:rPr>
              <a:t>Validated against Python &amp; SQL</a:t>
            </a:r>
            <a:endParaRPr lang="en-US" sz="1050" dirty="0"/>
          </a:p>
        </p:txBody>
      </p:sp>
      <p:sp>
        <p:nvSpPr>
          <p:cNvPr id="28" name="Shape 21"/>
          <p:cNvSpPr/>
          <p:nvPr/>
        </p:nvSpPr>
        <p:spPr>
          <a:xfrm>
            <a:off x="457200" y="4023360"/>
            <a:ext cx="8229600" cy="548640"/>
          </a:xfrm>
          <a:prstGeom prst="roundRect">
            <a:avLst>
              <a:gd name="adj" fmla="val 13333"/>
            </a:avLst>
          </a:prstGeom>
          <a:solidFill>
            <a:schemeClr val="accent4">
              <a:alpha val="25000"/>
            </a:schemeClr>
          </a:solidFill>
          <a:ln w="9525">
            <a:solidFill>
              <a:schemeClr val="accent4"/>
            </a:solidFill>
            <a:prstDash val="solid"/>
          </a:ln>
        </p:spPr>
      </p:sp>
      <p:sp>
        <p:nvSpPr>
          <p:cNvPr id="29" name="Text 22"/>
          <p:cNvSpPr txBox="1"/>
          <p:nvPr/>
        </p:nvSpPr>
        <p:spPr>
          <a:xfrm>
            <a:off x="640080" y="4023360"/>
            <a:ext cx="7863840" cy="548640"/>
          </a:xfrm>
          <a:prstGeom prst="rect">
            <a:avLst/>
          </a:prstGeom>
          <a:noFill/>
          <a:ln/>
        </p:spPr>
        <p:txBody>
          <a:bodyPr wrap="square" lIns="0" tIns="0" rIns="0" bIns="0" rtlCol="0" anchor="ctr"/>
          <a:lstStyle/>
          <a:p>
            <a:pPr marL="0" indent="0">
              <a:buNone/>
            </a:pPr>
            <a:r>
              <a:rPr lang="en-US" sz="1200" b="1" dirty="0">
                <a:solidFill>
                  <a:schemeClr val="tx1"/>
                </a:solidFill>
              </a:rPr>
              <a:t>Out of scope: the dataset has no employee data and cannot support claims about treatment effectiveness or readmission rates.</a:t>
            </a:r>
            <a:endParaRPr lang="en-US" sz="1200" dirty="0"/>
          </a:p>
        </p:txBody>
      </p:sp>
      <p:sp>
        <p:nvSpPr>
          <p:cNvPr id="30"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DATASET OVERVIEW</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What we started with</a:t>
            </a:r>
            <a:endParaRPr lang="en-US" sz="2600" dirty="0"/>
          </a:p>
        </p:txBody>
      </p:sp>
      <p:sp>
        <p:nvSpPr>
          <p:cNvPr id="4" name="card"/>
          <p:cNvSpPr/>
          <p:nvPr/>
        </p:nvSpPr>
        <p:spPr>
          <a:xfrm>
            <a:off x="457200" y="1234440"/>
            <a:ext cx="1920240" cy="1188720"/>
          </a:xfrm>
          <a:prstGeom prst="roundRect">
            <a:avLst>
              <a:gd name="adj" fmla="val 6154"/>
            </a:avLst>
          </a:prstGeom>
          <a:solidFill>
            <a:schemeClr val="bg1"/>
          </a:solidFill>
          <a:ln w="9525">
            <a:solidFill>
              <a:srgbClr val="D5E3EC"/>
            </a:solidFill>
            <a:prstDash val="solid"/>
          </a:ln>
        </p:spPr>
      </p:sp>
      <p:sp>
        <p:nvSpPr>
          <p:cNvPr id="5" name="Shape 3"/>
          <p:cNvSpPr/>
          <p:nvPr/>
        </p:nvSpPr>
        <p:spPr>
          <a:xfrm>
            <a:off x="466344" y="1325880"/>
            <a:ext cx="73152" cy="1005840"/>
          </a:xfrm>
          <a:prstGeom prst="rect">
            <a:avLst/>
          </a:prstGeom>
          <a:solidFill>
            <a:schemeClr val="accent1"/>
          </a:solidFill>
          <a:ln/>
        </p:spPr>
      </p:sp>
      <p:sp>
        <p:nvSpPr>
          <p:cNvPr id="6" name="Text 4"/>
          <p:cNvSpPr txBox="1"/>
          <p:nvPr/>
        </p:nvSpPr>
        <p:spPr>
          <a:xfrm>
            <a:off x="685800" y="1371600"/>
            <a:ext cx="1600200" cy="548640"/>
          </a:xfrm>
          <a:prstGeom prst="rect">
            <a:avLst/>
          </a:prstGeom>
          <a:noFill/>
          <a:ln/>
        </p:spPr>
        <p:txBody>
          <a:bodyPr wrap="square" lIns="0" tIns="0" rIns="0" bIns="0" rtlCol="0" anchor="t"/>
          <a:lstStyle/>
          <a:p>
            <a:pPr marL="0" indent="0">
              <a:buNone/>
            </a:pPr>
            <a:r>
              <a:rPr lang="en-US" sz="3200" b="1" dirty="0">
                <a:solidFill>
                  <a:schemeClr val="tx2"/>
                </a:solidFill>
              </a:rPr>
              <a:t>55,500</a:t>
            </a:r>
            <a:endParaRPr lang="en-US" sz="3200" dirty="0"/>
          </a:p>
        </p:txBody>
      </p:sp>
      <p:sp>
        <p:nvSpPr>
          <p:cNvPr id="7" name="Text 5"/>
          <p:cNvSpPr txBox="1"/>
          <p:nvPr/>
        </p:nvSpPr>
        <p:spPr>
          <a:xfrm>
            <a:off x="685800" y="1965960"/>
            <a:ext cx="1600200" cy="274320"/>
          </a:xfrm>
          <a:prstGeom prst="rect">
            <a:avLst/>
          </a:prstGeom>
          <a:noFill/>
          <a:ln/>
        </p:spPr>
        <p:txBody>
          <a:bodyPr wrap="square" lIns="0" tIns="0" rIns="0" bIns="0" rtlCol="0" anchor="t"/>
          <a:lstStyle/>
          <a:p>
            <a:pPr marL="0" indent="0">
              <a:buNone/>
            </a:pPr>
            <a:r>
              <a:rPr lang="en-US" sz="1200" dirty="0">
                <a:solidFill>
                  <a:schemeClr val="accent5"/>
                </a:solidFill>
              </a:rPr>
              <a:t>original rows</a:t>
            </a:r>
            <a:endParaRPr lang="en-US" sz="1200" dirty="0"/>
          </a:p>
        </p:txBody>
      </p:sp>
      <p:sp>
        <p:nvSpPr>
          <p:cNvPr id="8" name="card"/>
          <p:cNvSpPr/>
          <p:nvPr/>
        </p:nvSpPr>
        <p:spPr>
          <a:xfrm>
            <a:off x="2560320" y="1234440"/>
            <a:ext cx="1920240" cy="1188720"/>
          </a:xfrm>
          <a:prstGeom prst="roundRect">
            <a:avLst>
              <a:gd name="adj" fmla="val 6154"/>
            </a:avLst>
          </a:prstGeom>
          <a:solidFill>
            <a:schemeClr val="bg1"/>
          </a:solidFill>
          <a:ln w="9525">
            <a:solidFill>
              <a:srgbClr val="D5E3EC"/>
            </a:solidFill>
            <a:prstDash val="solid"/>
          </a:ln>
        </p:spPr>
      </p:sp>
      <p:sp>
        <p:nvSpPr>
          <p:cNvPr id="9" name="Shape 7"/>
          <p:cNvSpPr/>
          <p:nvPr/>
        </p:nvSpPr>
        <p:spPr>
          <a:xfrm>
            <a:off x="2569464" y="1325880"/>
            <a:ext cx="73152" cy="1005840"/>
          </a:xfrm>
          <a:prstGeom prst="rect">
            <a:avLst/>
          </a:prstGeom>
          <a:solidFill>
            <a:schemeClr val="accent2"/>
          </a:solidFill>
          <a:ln/>
        </p:spPr>
      </p:sp>
      <p:sp>
        <p:nvSpPr>
          <p:cNvPr id="10" name="Text 8"/>
          <p:cNvSpPr txBox="1"/>
          <p:nvPr/>
        </p:nvSpPr>
        <p:spPr>
          <a:xfrm>
            <a:off x="2788920" y="1371600"/>
            <a:ext cx="1600200" cy="548640"/>
          </a:xfrm>
          <a:prstGeom prst="rect">
            <a:avLst/>
          </a:prstGeom>
          <a:noFill/>
          <a:ln/>
        </p:spPr>
        <p:txBody>
          <a:bodyPr wrap="square" lIns="0" tIns="0" rIns="0" bIns="0" rtlCol="0" anchor="t"/>
          <a:lstStyle/>
          <a:p>
            <a:pPr marL="0" indent="0">
              <a:buNone/>
            </a:pPr>
            <a:r>
              <a:rPr lang="en-US" sz="3200" b="1" dirty="0">
                <a:solidFill>
                  <a:schemeClr val="tx2"/>
                </a:solidFill>
              </a:rPr>
              <a:t>15</a:t>
            </a:r>
            <a:endParaRPr lang="en-US" sz="3200" dirty="0"/>
          </a:p>
        </p:txBody>
      </p:sp>
      <p:sp>
        <p:nvSpPr>
          <p:cNvPr id="11" name="Text 9"/>
          <p:cNvSpPr txBox="1"/>
          <p:nvPr/>
        </p:nvSpPr>
        <p:spPr>
          <a:xfrm>
            <a:off x="2788920" y="1965960"/>
            <a:ext cx="1600200" cy="274320"/>
          </a:xfrm>
          <a:prstGeom prst="rect">
            <a:avLst/>
          </a:prstGeom>
          <a:noFill/>
          <a:ln/>
        </p:spPr>
        <p:txBody>
          <a:bodyPr wrap="square" lIns="0" tIns="0" rIns="0" bIns="0" rtlCol="0" anchor="t"/>
          <a:lstStyle/>
          <a:p>
            <a:pPr marL="0" indent="0">
              <a:buNone/>
            </a:pPr>
            <a:r>
              <a:rPr lang="en-US" sz="1200" dirty="0">
                <a:solidFill>
                  <a:schemeClr val="accent5"/>
                </a:solidFill>
              </a:rPr>
              <a:t>columns</a:t>
            </a:r>
            <a:endParaRPr lang="en-US" sz="1200" dirty="0"/>
          </a:p>
        </p:txBody>
      </p:sp>
      <p:sp>
        <p:nvSpPr>
          <p:cNvPr id="12" name="card"/>
          <p:cNvSpPr/>
          <p:nvPr/>
        </p:nvSpPr>
        <p:spPr>
          <a:xfrm>
            <a:off x="4663440" y="1234440"/>
            <a:ext cx="1920240" cy="1188720"/>
          </a:xfrm>
          <a:prstGeom prst="roundRect">
            <a:avLst>
              <a:gd name="adj" fmla="val 6154"/>
            </a:avLst>
          </a:prstGeom>
          <a:solidFill>
            <a:schemeClr val="bg1"/>
          </a:solidFill>
          <a:ln w="9525">
            <a:solidFill>
              <a:srgbClr val="D5E3EC"/>
            </a:solidFill>
            <a:prstDash val="solid"/>
          </a:ln>
        </p:spPr>
      </p:sp>
      <p:sp>
        <p:nvSpPr>
          <p:cNvPr id="13" name="Shape 11"/>
          <p:cNvSpPr/>
          <p:nvPr/>
        </p:nvSpPr>
        <p:spPr>
          <a:xfrm>
            <a:off x="4672584" y="1325880"/>
            <a:ext cx="73152" cy="1005840"/>
          </a:xfrm>
          <a:prstGeom prst="rect">
            <a:avLst/>
          </a:prstGeom>
          <a:solidFill>
            <a:schemeClr val="accent3"/>
          </a:solidFill>
          <a:ln/>
        </p:spPr>
      </p:sp>
      <p:sp>
        <p:nvSpPr>
          <p:cNvPr id="14" name="Text 12"/>
          <p:cNvSpPr txBox="1"/>
          <p:nvPr/>
        </p:nvSpPr>
        <p:spPr>
          <a:xfrm>
            <a:off x="4892040" y="1371600"/>
            <a:ext cx="1600200" cy="548640"/>
          </a:xfrm>
          <a:prstGeom prst="rect">
            <a:avLst/>
          </a:prstGeom>
          <a:noFill/>
          <a:ln/>
        </p:spPr>
        <p:txBody>
          <a:bodyPr wrap="square" lIns="0" tIns="0" rIns="0" bIns="0" rtlCol="0" anchor="t"/>
          <a:lstStyle/>
          <a:p>
            <a:pPr marL="0" indent="0">
              <a:buNone/>
            </a:pPr>
            <a:r>
              <a:rPr lang="en-US" sz="3200" b="1" dirty="0">
                <a:solidFill>
                  <a:schemeClr val="tx2"/>
                </a:solidFill>
              </a:rPr>
              <a:t>0</a:t>
            </a:r>
            <a:endParaRPr lang="en-US" sz="3200" dirty="0"/>
          </a:p>
        </p:txBody>
      </p:sp>
      <p:sp>
        <p:nvSpPr>
          <p:cNvPr id="15" name="Text 13"/>
          <p:cNvSpPr txBox="1"/>
          <p:nvPr/>
        </p:nvSpPr>
        <p:spPr>
          <a:xfrm>
            <a:off x="4892040" y="1965960"/>
            <a:ext cx="1600200" cy="274320"/>
          </a:xfrm>
          <a:prstGeom prst="rect">
            <a:avLst/>
          </a:prstGeom>
          <a:noFill/>
          <a:ln/>
        </p:spPr>
        <p:txBody>
          <a:bodyPr wrap="square" lIns="0" tIns="0" rIns="0" bIns="0" rtlCol="0" anchor="t"/>
          <a:lstStyle/>
          <a:p>
            <a:pPr marL="0" indent="0">
              <a:buNone/>
            </a:pPr>
            <a:r>
              <a:rPr lang="en-US" sz="1200" dirty="0">
                <a:solidFill>
                  <a:schemeClr val="accent5"/>
                </a:solidFill>
              </a:rPr>
              <a:t>missing values</a:t>
            </a:r>
            <a:endParaRPr lang="en-US" sz="1200" dirty="0"/>
          </a:p>
        </p:txBody>
      </p:sp>
      <p:sp>
        <p:nvSpPr>
          <p:cNvPr id="16" name="card"/>
          <p:cNvSpPr/>
          <p:nvPr/>
        </p:nvSpPr>
        <p:spPr>
          <a:xfrm>
            <a:off x="6766560" y="1234440"/>
            <a:ext cx="1920240" cy="1188720"/>
          </a:xfrm>
          <a:prstGeom prst="roundRect">
            <a:avLst>
              <a:gd name="adj" fmla="val 6154"/>
            </a:avLst>
          </a:prstGeom>
          <a:solidFill>
            <a:schemeClr val="bg1"/>
          </a:solidFill>
          <a:ln w="9525">
            <a:solidFill>
              <a:srgbClr val="D5E3EC"/>
            </a:solidFill>
            <a:prstDash val="solid"/>
          </a:ln>
        </p:spPr>
      </p:sp>
      <p:sp>
        <p:nvSpPr>
          <p:cNvPr id="17" name="Shape 15"/>
          <p:cNvSpPr/>
          <p:nvPr/>
        </p:nvSpPr>
        <p:spPr>
          <a:xfrm>
            <a:off x="6775704" y="1325880"/>
            <a:ext cx="73152" cy="1005840"/>
          </a:xfrm>
          <a:prstGeom prst="rect">
            <a:avLst/>
          </a:prstGeom>
          <a:solidFill>
            <a:schemeClr val="accent4"/>
          </a:solidFill>
          <a:ln/>
        </p:spPr>
      </p:sp>
      <p:sp>
        <p:nvSpPr>
          <p:cNvPr id="18" name="Text 16"/>
          <p:cNvSpPr txBox="1"/>
          <p:nvPr/>
        </p:nvSpPr>
        <p:spPr>
          <a:xfrm>
            <a:off x="6995160" y="1371600"/>
            <a:ext cx="1600200" cy="548640"/>
          </a:xfrm>
          <a:prstGeom prst="rect">
            <a:avLst/>
          </a:prstGeom>
          <a:noFill/>
          <a:ln/>
        </p:spPr>
        <p:txBody>
          <a:bodyPr wrap="square" lIns="0" tIns="0" rIns="0" bIns="0" rtlCol="0" anchor="t"/>
          <a:lstStyle/>
          <a:p>
            <a:pPr marL="0" indent="0">
              <a:buNone/>
            </a:pPr>
            <a:r>
              <a:rPr lang="en-US" sz="3200" b="1" dirty="0">
                <a:solidFill>
                  <a:schemeClr val="tx2"/>
                </a:solidFill>
              </a:rPr>
              <a:t>534</a:t>
            </a:r>
            <a:endParaRPr lang="en-US" sz="3200" dirty="0"/>
          </a:p>
        </p:txBody>
      </p:sp>
      <p:sp>
        <p:nvSpPr>
          <p:cNvPr id="19" name="Text 17"/>
          <p:cNvSpPr txBox="1"/>
          <p:nvPr/>
        </p:nvSpPr>
        <p:spPr>
          <a:xfrm>
            <a:off x="6995160" y="1965960"/>
            <a:ext cx="1600200" cy="274320"/>
          </a:xfrm>
          <a:prstGeom prst="rect">
            <a:avLst/>
          </a:prstGeom>
          <a:noFill/>
          <a:ln/>
        </p:spPr>
        <p:txBody>
          <a:bodyPr wrap="square" lIns="0" tIns="0" rIns="0" bIns="0" rtlCol="0" anchor="t"/>
          <a:lstStyle/>
          <a:p>
            <a:pPr marL="0" indent="0">
              <a:buNone/>
            </a:pPr>
            <a:r>
              <a:rPr lang="en-US" sz="1200" dirty="0">
                <a:solidFill>
                  <a:schemeClr val="accent5"/>
                </a:solidFill>
              </a:rPr>
              <a:t>duplicate records</a:t>
            </a:r>
            <a:endParaRPr lang="en-US" sz="1200" dirty="0"/>
          </a:p>
        </p:txBody>
      </p:sp>
      <p:sp>
        <p:nvSpPr>
          <p:cNvPr id="20" name="Text 18"/>
          <p:cNvSpPr txBox="1"/>
          <p:nvPr/>
        </p:nvSpPr>
        <p:spPr>
          <a:xfrm>
            <a:off x="457200" y="2606040"/>
            <a:ext cx="5486400" cy="274320"/>
          </a:xfrm>
          <a:prstGeom prst="rect">
            <a:avLst/>
          </a:prstGeom>
          <a:noFill/>
          <a:ln/>
        </p:spPr>
        <p:txBody>
          <a:bodyPr wrap="square" lIns="0" tIns="0" rIns="0" bIns="0" rtlCol="0" anchor="t"/>
          <a:lstStyle/>
          <a:p>
            <a:pPr marL="0" indent="0">
              <a:buNone/>
            </a:pPr>
            <a:r>
              <a:rPr lang="en-US" sz="1400" b="1" dirty="0">
                <a:solidFill>
                  <a:schemeClr val="accent2"/>
                </a:solidFill>
              </a:rPr>
              <a:t>What each record describes</a:t>
            </a:r>
            <a:endParaRPr lang="en-US" sz="1400" dirty="0"/>
          </a:p>
        </p:txBody>
      </p:sp>
      <p:sp>
        <p:nvSpPr>
          <p:cNvPr id="21" name="card"/>
          <p:cNvSpPr/>
          <p:nvPr/>
        </p:nvSpPr>
        <p:spPr>
          <a:xfrm>
            <a:off x="457200" y="2971800"/>
            <a:ext cx="2651760" cy="566928"/>
          </a:xfrm>
          <a:prstGeom prst="roundRect">
            <a:avLst>
              <a:gd name="adj" fmla="val 12903"/>
            </a:avLst>
          </a:prstGeom>
          <a:solidFill>
            <a:schemeClr val="bg2"/>
          </a:solidFill>
          <a:ln w="9525">
            <a:solidFill>
              <a:srgbClr val="D5E3EC"/>
            </a:solidFill>
            <a:prstDash val="solid"/>
          </a:ln>
        </p:spPr>
      </p:sp>
      <p:sp>
        <p:nvSpPr>
          <p:cNvPr id="22" name="iconbg"/>
          <p:cNvSpPr/>
          <p:nvPr/>
        </p:nvSpPr>
        <p:spPr>
          <a:xfrm>
            <a:off x="548640" y="3063240"/>
            <a:ext cx="384048" cy="384048"/>
          </a:xfrm>
          <a:prstGeom prst="ellipse">
            <a:avLst/>
          </a:prstGeom>
          <a:solidFill>
            <a:schemeClr val="accent1"/>
          </a:solidFill>
          <a:ln/>
        </p:spPr>
      </p:sp>
      <p:pic>
        <p:nvPicPr>
          <p:cNvPr id="23" name="Image 0" descr="Patient demographics"/>
          <p:cNvPicPr>
            <a:picLocks noChangeAspect="1"/>
          </p:cNvPicPr>
          <p:nvPr/>
        </p:nvPicPr>
        <p:blipFill>
          <a:blip r:embed="rId3"/>
          <a:stretch>
            <a:fillRect/>
          </a:stretch>
        </p:blipFill>
        <p:spPr>
          <a:xfrm>
            <a:off x="644652" y="3159252"/>
            <a:ext cx="192024" cy="192024"/>
          </a:xfrm>
          <a:prstGeom prst="rect">
            <a:avLst/>
          </a:prstGeom>
        </p:spPr>
      </p:pic>
      <p:sp>
        <p:nvSpPr>
          <p:cNvPr id="24" name="Text 21"/>
          <p:cNvSpPr txBox="1"/>
          <p:nvPr/>
        </p:nvSpPr>
        <p:spPr>
          <a:xfrm>
            <a:off x="1051560" y="29718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Patient demographics</a:t>
            </a:r>
            <a:endParaRPr lang="en-US" sz="1200" dirty="0"/>
          </a:p>
        </p:txBody>
      </p:sp>
      <p:sp>
        <p:nvSpPr>
          <p:cNvPr id="25" name="card"/>
          <p:cNvSpPr/>
          <p:nvPr/>
        </p:nvSpPr>
        <p:spPr>
          <a:xfrm>
            <a:off x="3246120" y="2971800"/>
            <a:ext cx="2651760" cy="566928"/>
          </a:xfrm>
          <a:prstGeom prst="roundRect">
            <a:avLst>
              <a:gd name="adj" fmla="val 12903"/>
            </a:avLst>
          </a:prstGeom>
          <a:solidFill>
            <a:schemeClr val="bg2"/>
          </a:solidFill>
          <a:ln w="9525">
            <a:solidFill>
              <a:srgbClr val="D5E3EC"/>
            </a:solidFill>
            <a:prstDash val="solid"/>
          </a:ln>
        </p:spPr>
      </p:sp>
      <p:sp>
        <p:nvSpPr>
          <p:cNvPr id="26" name="iconbg"/>
          <p:cNvSpPr/>
          <p:nvPr/>
        </p:nvSpPr>
        <p:spPr>
          <a:xfrm>
            <a:off x="3337560" y="3063240"/>
            <a:ext cx="384048" cy="384048"/>
          </a:xfrm>
          <a:prstGeom prst="ellipse">
            <a:avLst/>
          </a:prstGeom>
          <a:solidFill>
            <a:schemeClr val="accent2"/>
          </a:solidFill>
          <a:ln/>
        </p:spPr>
      </p:sp>
      <p:pic>
        <p:nvPicPr>
          <p:cNvPr id="27" name="Image 1" descr="Medical conditions"/>
          <p:cNvPicPr>
            <a:picLocks noChangeAspect="1"/>
          </p:cNvPicPr>
          <p:nvPr/>
        </p:nvPicPr>
        <p:blipFill>
          <a:blip r:embed="rId4"/>
          <a:stretch>
            <a:fillRect/>
          </a:stretch>
        </p:blipFill>
        <p:spPr>
          <a:xfrm>
            <a:off x="3433572" y="3159252"/>
            <a:ext cx="192024" cy="192024"/>
          </a:xfrm>
          <a:prstGeom prst="rect">
            <a:avLst/>
          </a:prstGeom>
        </p:spPr>
      </p:pic>
      <p:sp>
        <p:nvSpPr>
          <p:cNvPr id="28" name="Text 24"/>
          <p:cNvSpPr txBox="1"/>
          <p:nvPr/>
        </p:nvSpPr>
        <p:spPr>
          <a:xfrm>
            <a:off x="3840480" y="29718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Medical conditions</a:t>
            </a:r>
            <a:endParaRPr lang="en-US" sz="1200" dirty="0"/>
          </a:p>
        </p:txBody>
      </p:sp>
      <p:sp>
        <p:nvSpPr>
          <p:cNvPr id="29" name="card"/>
          <p:cNvSpPr/>
          <p:nvPr/>
        </p:nvSpPr>
        <p:spPr>
          <a:xfrm>
            <a:off x="6035040" y="2971800"/>
            <a:ext cx="2651760" cy="566928"/>
          </a:xfrm>
          <a:prstGeom prst="roundRect">
            <a:avLst>
              <a:gd name="adj" fmla="val 12903"/>
            </a:avLst>
          </a:prstGeom>
          <a:solidFill>
            <a:schemeClr val="bg2"/>
          </a:solidFill>
          <a:ln w="9525">
            <a:solidFill>
              <a:srgbClr val="D5E3EC"/>
            </a:solidFill>
            <a:prstDash val="solid"/>
          </a:ln>
        </p:spPr>
      </p:sp>
      <p:sp>
        <p:nvSpPr>
          <p:cNvPr id="30" name="iconbg"/>
          <p:cNvSpPr/>
          <p:nvPr/>
        </p:nvSpPr>
        <p:spPr>
          <a:xfrm>
            <a:off x="6126480" y="3063240"/>
            <a:ext cx="384048" cy="384048"/>
          </a:xfrm>
          <a:prstGeom prst="ellipse">
            <a:avLst/>
          </a:prstGeom>
          <a:solidFill>
            <a:schemeClr val="accent1"/>
          </a:solidFill>
          <a:ln/>
        </p:spPr>
      </p:sp>
      <p:pic>
        <p:nvPicPr>
          <p:cNvPr id="31" name="Image 2" descr="Admission types"/>
          <p:cNvPicPr>
            <a:picLocks noChangeAspect="1"/>
          </p:cNvPicPr>
          <p:nvPr/>
        </p:nvPicPr>
        <p:blipFill>
          <a:blip r:embed="rId5"/>
          <a:stretch>
            <a:fillRect/>
          </a:stretch>
        </p:blipFill>
        <p:spPr>
          <a:xfrm>
            <a:off x="6222492" y="3159252"/>
            <a:ext cx="192024" cy="192024"/>
          </a:xfrm>
          <a:prstGeom prst="rect">
            <a:avLst/>
          </a:prstGeom>
        </p:spPr>
      </p:pic>
      <p:sp>
        <p:nvSpPr>
          <p:cNvPr id="32" name="Text 27"/>
          <p:cNvSpPr txBox="1"/>
          <p:nvPr/>
        </p:nvSpPr>
        <p:spPr>
          <a:xfrm>
            <a:off x="6629400" y="29718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Admission types</a:t>
            </a:r>
            <a:endParaRPr lang="en-US" sz="1200" dirty="0"/>
          </a:p>
        </p:txBody>
      </p:sp>
      <p:sp>
        <p:nvSpPr>
          <p:cNvPr id="33" name="card"/>
          <p:cNvSpPr/>
          <p:nvPr/>
        </p:nvSpPr>
        <p:spPr>
          <a:xfrm>
            <a:off x="457200" y="3657600"/>
            <a:ext cx="2651760" cy="566928"/>
          </a:xfrm>
          <a:prstGeom prst="roundRect">
            <a:avLst>
              <a:gd name="adj" fmla="val 12903"/>
            </a:avLst>
          </a:prstGeom>
          <a:solidFill>
            <a:schemeClr val="bg2"/>
          </a:solidFill>
          <a:ln w="9525">
            <a:solidFill>
              <a:srgbClr val="D5E3EC"/>
            </a:solidFill>
            <a:prstDash val="solid"/>
          </a:ln>
        </p:spPr>
      </p:sp>
      <p:sp>
        <p:nvSpPr>
          <p:cNvPr id="34" name="iconbg"/>
          <p:cNvSpPr/>
          <p:nvPr/>
        </p:nvSpPr>
        <p:spPr>
          <a:xfrm>
            <a:off x="548640" y="3749040"/>
            <a:ext cx="384048" cy="384048"/>
          </a:xfrm>
          <a:prstGeom prst="ellipse">
            <a:avLst/>
          </a:prstGeom>
          <a:solidFill>
            <a:schemeClr val="accent2"/>
          </a:solidFill>
          <a:ln/>
        </p:spPr>
      </p:sp>
      <p:pic>
        <p:nvPicPr>
          <p:cNvPr id="35" name="Image 3" descr="Billing amounts"/>
          <p:cNvPicPr>
            <a:picLocks noChangeAspect="1"/>
          </p:cNvPicPr>
          <p:nvPr/>
        </p:nvPicPr>
        <p:blipFill>
          <a:blip r:embed="rId6"/>
          <a:stretch>
            <a:fillRect/>
          </a:stretch>
        </p:blipFill>
        <p:spPr>
          <a:xfrm>
            <a:off x="644652" y="3845052"/>
            <a:ext cx="192024" cy="192024"/>
          </a:xfrm>
          <a:prstGeom prst="rect">
            <a:avLst/>
          </a:prstGeom>
        </p:spPr>
      </p:pic>
      <p:sp>
        <p:nvSpPr>
          <p:cNvPr id="36" name="Text 30"/>
          <p:cNvSpPr txBox="1"/>
          <p:nvPr/>
        </p:nvSpPr>
        <p:spPr>
          <a:xfrm>
            <a:off x="1051560" y="36576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Billing amounts</a:t>
            </a:r>
            <a:endParaRPr lang="en-US" sz="1200" dirty="0"/>
          </a:p>
        </p:txBody>
      </p:sp>
      <p:sp>
        <p:nvSpPr>
          <p:cNvPr id="37" name="card"/>
          <p:cNvSpPr/>
          <p:nvPr/>
        </p:nvSpPr>
        <p:spPr>
          <a:xfrm>
            <a:off x="3246120" y="3657600"/>
            <a:ext cx="2651760" cy="566928"/>
          </a:xfrm>
          <a:prstGeom prst="roundRect">
            <a:avLst>
              <a:gd name="adj" fmla="val 12903"/>
            </a:avLst>
          </a:prstGeom>
          <a:solidFill>
            <a:schemeClr val="bg2"/>
          </a:solidFill>
          <a:ln w="9525">
            <a:solidFill>
              <a:srgbClr val="D5E3EC"/>
            </a:solidFill>
            <a:prstDash val="solid"/>
          </a:ln>
        </p:spPr>
      </p:sp>
      <p:sp>
        <p:nvSpPr>
          <p:cNvPr id="38" name="iconbg"/>
          <p:cNvSpPr/>
          <p:nvPr/>
        </p:nvSpPr>
        <p:spPr>
          <a:xfrm>
            <a:off x="3337560" y="3749040"/>
            <a:ext cx="384048" cy="384048"/>
          </a:xfrm>
          <a:prstGeom prst="ellipse">
            <a:avLst/>
          </a:prstGeom>
          <a:solidFill>
            <a:schemeClr val="accent1"/>
          </a:solidFill>
          <a:ln/>
        </p:spPr>
      </p:sp>
      <p:pic>
        <p:nvPicPr>
          <p:cNvPr id="39" name="Image 4" descr="Insurance providers"/>
          <p:cNvPicPr>
            <a:picLocks noChangeAspect="1"/>
          </p:cNvPicPr>
          <p:nvPr/>
        </p:nvPicPr>
        <p:blipFill>
          <a:blip r:embed="rId7"/>
          <a:stretch>
            <a:fillRect/>
          </a:stretch>
        </p:blipFill>
        <p:spPr>
          <a:xfrm>
            <a:off x="3433572" y="3845052"/>
            <a:ext cx="192024" cy="192024"/>
          </a:xfrm>
          <a:prstGeom prst="rect">
            <a:avLst/>
          </a:prstGeom>
        </p:spPr>
      </p:pic>
      <p:sp>
        <p:nvSpPr>
          <p:cNvPr id="40" name="Text 33"/>
          <p:cNvSpPr txBox="1"/>
          <p:nvPr/>
        </p:nvSpPr>
        <p:spPr>
          <a:xfrm>
            <a:off x="3840480" y="36576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Insurance providers</a:t>
            </a:r>
            <a:endParaRPr lang="en-US" sz="1200" dirty="0"/>
          </a:p>
        </p:txBody>
      </p:sp>
      <p:sp>
        <p:nvSpPr>
          <p:cNvPr id="41" name="card"/>
          <p:cNvSpPr/>
          <p:nvPr/>
        </p:nvSpPr>
        <p:spPr>
          <a:xfrm>
            <a:off x="6035040" y="3657600"/>
            <a:ext cx="2651760" cy="566928"/>
          </a:xfrm>
          <a:prstGeom prst="roundRect">
            <a:avLst>
              <a:gd name="adj" fmla="val 12903"/>
            </a:avLst>
          </a:prstGeom>
          <a:solidFill>
            <a:schemeClr val="bg2"/>
          </a:solidFill>
          <a:ln w="9525">
            <a:solidFill>
              <a:srgbClr val="D5E3EC"/>
            </a:solidFill>
            <a:prstDash val="solid"/>
          </a:ln>
        </p:spPr>
      </p:sp>
      <p:sp>
        <p:nvSpPr>
          <p:cNvPr id="42" name="iconbg"/>
          <p:cNvSpPr/>
          <p:nvPr/>
        </p:nvSpPr>
        <p:spPr>
          <a:xfrm>
            <a:off x="6126480" y="3749040"/>
            <a:ext cx="384048" cy="384048"/>
          </a:xfrm>
          <a:prstGeom prst="ellipse">
            <a:avLst/>
          </a:prstGeom>
          <a:solidFill>
            <a:schemeClr val="accent2"/>
          </a:solidFill>
          <a:ln/>
        </p:spPr>
      </p:sp>
      <p:pic>
        <p:nvPicPr>
          <p:cNvPr id="43" name="Image 5" descr="Admission &amp; discharge dates"/>
          <p:cNvPicPr>
            <a:picLocks noChangeAspect="1"/>
          </p:cNvPicPr>
          <p:nvPr/>
        </p:nvPicPr>
        <p:blipFill>
          <a:blip r:embed="rId8"/>
          <a:stretch>
            <a:fillRect/>
          </a:stretch>
        </p:blipFill>
        <p:spPr>
          <a:xfrm>
            <a:off x="6222492" y="3845052"/>
            <a:ext cx="192024" cy="192024"/>
          </a:xfrm>
          <a:prstGeom prst="rect">
            <a:avLst/>
          </a:prstGeom>
        </p:spPr>
      </p:pic>
      <p:sp>
        <p:nvSpPr>
          <p:cNvPr id="44" name="Text 36"/>
          <p:cNvSpPr txBox="1"/>
          <p:nvPr/>
        </p:nvSpPr>
        <p:spPr>
          <a:xfrm>
            <a:off x="6629400" y="3657600"/>
            <a:ext cx="1965960" cy="566928"/>
          </a:xfrm>
          <a:prstGeom prst="rect">
            <a:avLst/>
          </a:prstGeom>
          <a:noFill/>
          <a:ln/>
        </p:spPr>
        <p:txBody>
          <a:bodyPr wrap="square" lIns="0" tIns="0" rIns="0" bIns="0" rtlCol="0" anchor="ctr"/>
          <a:lstStyle/>
          <a:p>
            <a:pPr marL="0" indent="0">
              <a:buNone/>
            </a:pPr>
            <a:r>
              <a:rPr lang="en-US" sz="1200" b="1" dirty="0">
                <a:solidFill>
                  <a:schemeClr val="tx1"/>
                </a:solidFill>
              </a:rPr>
              <a:t>Admission &amp; discharge dates</a:t>
            </a:r>
            <a:endParaRPr lang="en-US" sz="1200" dirty="0"/>
          </a:p>
        </p:txBody>
      </p:sp>
      <p:sp>
        <p:nvSpPr>
          <p:cNvPr id="45" name="Text 37"/>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000" i="1" dirty="0">
                <a:solidFill>
                  <a:schemeClr val="accent5"/>
                </a:solidFill>
              </a:rPr>
              <a:t>Source: Kaggle healthcare dataset (prasad22).— the quality issues were duplicates, inconsistent text and unusual billing.</a:t>
            </a:r>
            <a:endParaRPr lang="en-US" sz="1000" dirty="0"/>
          </a:p>
        </p:txBody>
      </p:sp>
      <p:sp>
        <p:nvSpPr>
          <p:cNvPr id="4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DATA CLEANING &amp; VALIDATION  ·  PYTHON</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From 55,500 raw rows to 54,966 clean records</a:t>
            </a:r>
            <a:endParaRPr lang="en-US" sz="2600" dirty="0"/>
          </a:p>
        </p:txBody>
      </p:sp>
      <p:sp>
        <p:nvSpPr>
          <p:cNvPr id="4" name="Shape 2"/>
          <p:cNvSpPr/>
          <p:nvPr/>
        </p:nvSpPr>
        <p:spPr>
          <a:xfrm>
            <a:off x="457200" y="1234440"/>
            <a:ext cx="1828800" cy="1188720"/>
          </a:xfrm>
          <a:prstGeom prst="roundRect">
            <a:avLst>
              <a:gd name="adj" fmla="val 6154"/>
            </a:avLst>
          </a:prstGeom>
          <a:solidFill>
            <a:schemeClr val="accent1"/>
          </a:solidFill>
          <a:ln/>
        </p:spPr>
      </p:sp>
      <p:sp>
        <p:nvSpPr>
          <p:cNvPr id="5" name="Text 3"/>
          <p:cNvSpPr txBox="1"/>
          <p:nvPr/>
        </p:nvSpPr>
        <p:spPr>
          <a:xfrm>
            <a:off x="548640" y="1298448"/>
            <a:ext cx="1645920" cy="502920"/>
          </a:xfrm>
          <a:prstGeom prst="rect">
            <a:avLst/>
          </a:prstGeom>
          <a:noFill/>
          <a:ln/>
        </p:spPr>
        <p:txBody>
          <a:bodyPr wrap="square" lIns="0" tIns="0" rIns="0" bIns="0" rtlCol="0" anchor="t"/>
          <a:lstStyle/>
          <a:p>
            <a:pPr marL="0" indent="0" algn="ctr">
              <a:buNone/>
            </a:pPr>
            <a:r>
              <a:rPr lang="en-US" sz="2800" b="1" dirty="0">
                <a:solidFill>
                  <a:schemeClr val="bg1"/>
                </a:solidFill>
              </a:rPr>
              <a:t>55,500</a:t>
            </a:r>
            <a:endParaRPr lang="en-US" sz="2800" dirty="0"/>
          </a:p>
        </p:txBody>
      </p:sp>
      <p:sp>
        <p:nvSpPr>
          <p:cNvPr id="6" name="Text 4"/>
          <p:cNvSpPr txBox="1"/>
          <p:nvPr/>
        </p:nvSpPr>
        <p:spPr>
          <a:xfrm>
            <a:off x="548640" y="1810512"/>
            <a:ext cx="1645920" cy="548640"/>
          </a:xfrm>
          <a:prstGeom prst="rect">
            <a:avLst/>
          </a:prstGeom>
          <a:noFill/>
          <a:ln/>
        </p:spPr>
        <p:txBody>
          <a:bodyPr wrap="square" lIns="0" tIns="0" rIns="0" bIns="0" rtlCol="0" anchor="t"/>
          <a:lstStyle/>
          <a:p>
            <a:pPr marL="0" indent="0" algn="ctr">
              <a:buNone/>
            </a:pPr>
            <a:r>
              <a:rPr lang="en-US" sz="1050" dirty="0">
                <a:solidFill>
                  <a:schemeClr val="bg1"/>
                </a:solidFill>
              </a:rPr>
              <a:t>raw rows</a:t>
            </a:r>
            <a:endParaRPr lang="en-US" sz="1050" dirty="0"/>
          </a:p>
        </p:txBody>
      </p:sp>
      <p:sp>
        <p:nvSpPr>
          <p:cNvPr id="7" name="Shape 5"/>
          <p:cNvSpPr/>
          <p:nvPr/>
        </p:nvSpPr>
        <p:spPr>
          <a:xfrm>
            <a:off x="2651760" y="1234440"/>
            <a:ext cx="1828800" cy="1188720"/>
          </a:xfrm>
          <a:prstGeom prst="roundRect">
            <a:avLst>
              <a:gd name="adj" fmla="val 6154"/>
            </a:avLst>
          </a:prstGeom>
          <a:solidFill>
            <a:schemeClr val="accent2"/>
          </a:solidFill>
          <a:ln/>
        </p:spPr>
      </p:sp>
      <p:sp>
        <p:nvSpPr>
          <p:cNvPr id="8" name="Text 6"/>
          <p:cNvSpPr txBox="1"/>
          <p:nvPr/>
        </p:nvSpPr>
        <p:spPr>
          <a:xfrm>
            <a:off x="2743200" y="1298448"/>
            <a:ext cx="1645920" cy="502920"/>
          </a:xfrm>
          <a:prstGeom prst="rect">
            <a:avLst/>
          </a:prstGeom>
          <a:noFill/>
          <a:ln/>
        </p:spPr>
        <p:txBody>
          <a:bodyPr wrap="square" lIns="0" tIns="0" rIns="0" bIns="0" rtlCol="0" anchor="t"/>
          <a:lstStyle/>
          <a:p>
            <a:pPr marL="0" indent="0" algn="ctr">
              <a:buNone/>
            </a:pPr>
            <a:r>
              <a:rPr lang="en-US" sz="2800" b="1" dirty="0">
                <a:solidFill>
                  <a:schemeClr val="bg1"/>
                </a:solidFill>
              </a:rPr>
              <a:t>534</a:t>
            </a:r>
            <a:endParaRPr lang="en-US" sz="2800" dirty="0"/>
          </a:p>
        </p:txBody>
      </p:sp>
      <p:sp>
        <p:nvSpPr>
          <p:cNvPr id="9" name="Text 7"/>
          <p:cNvSpPr txBox="1"/>
          <p:nvPr/>
        </p:nvSpPr>
        <p:spPr>
          <a:xfrm>
            <a:off x="2743200" y="1810512"/>
            <a:ext cx="1645920" cy="548640"/>
          </a:xfrm>
          <a:prstGeom prst="rect">
            <a:avLst/>
          </a:prstGeom>
          <a:noFill/>
          <a:ln/>
        </p:spPr>
        <p:txBody>
          <a:bodyPr wrap="square" lIns="0" tIns="0" rIns="0" bIns="0" rtlCol="0" anchor="t"/>
          <a:lstStyle/>
          <a:p>
            <a:pPr marL="0" indent="0" algn="ctr">
              <a:buNone/>
            </a:pPr>
            <a:r>
              <a:rPr lang="en-US" sz="1050" dirty="0">
                <a:solidFill>
                  <a:schemeClr val="bg1"/>
                </a:solidFill>
              </a:rPr>
              <a:t>duplicate records removed</a:t>
            </a:r>
            <a:endParaRPr lang="en-US" sz="1050" dirty="0"/>
          </a:p>
        </p:txBody>
      </p:sp>
      <p:sp>
        <p:nvSpPr>
          <p:cNvPr id="10" name="Shape 8"/>
          <p:cNvSpPr/>
          <p:nvPr/>
        </p:nvSpPr>
        <p:spPr>
          <a:xfrm>
            <a:off x="4846320" y="1234440"/>
            <a:ext cx="1828800" cy="1188720"/>
          </a:xfrm>
          <a:prstGeom prst="roundRect">
            <a:avLst>
              <a:gd name="adj" fmla="val 6154"/>
            </a:avLst>
          </a:prstGeom>
          <a:solidFill>
            <a:schemeClr val="accent3"/>
          </a:solidFill>
          <a:ln/>
        </p:spPr>
      </p:sp>
      <p:sp>
        <p:nvSpPr>
          <p:cNvPr id="11" name="Text 9"/>
          <p:cNvSpPr txBox="1"/>
          <p:nvPr/>
        </p:nvSpPr>
        <p:spPr>
          <a:xfrm>
            <a:off x="4937760" y="1298448"/>
            <a:ext cx="1645920" cy="502920"/>
          </a:xfrm>
          <a:prstGeom prst="rect">
            <a:avLst/>
          </a:prstGeom>
          <a:noFill/>
          <a:ln/>
        </p:spPr>
        <p:txBody>
          <a:bodyPr wrap="square" lIns="0" tIns="0" rIns="0" bIns="0" rtlCol="0" anchor="t"/>
          <a:lstStyle/>
          <a:p>
            <a:pPr marL="0" indent="0" algn="ctr">
              <a:buNone/>
            </a:pPr>
            <a:r>
              <a:rPr lang="en-US" sz="2800" b="1" dirty="0">
                <a:solidFill>
                  <a:schemeClr val="bg1"/>
                </a:solidFill>
              </a:rPr>
              <a:t>54,966</a:t>
            </a:r>
            <a:endParaRPr lang="en-US" sz="2800" dirty="0"/>
          </a:p>
        </p:txBody>
      </p:sp>
      <p:sp>
        <p:nvSpPr>
          <p:cNvPr id="12" name="Text 10"/>
          <p:cNvSpPr txBox="1"/>
          <p:nvPr/>
        </p:nvSpPr>
        <p:spPr>
          <a:xfrm>
            <a:off x="4937760" y="1810512"/>
            <a:ext cx="1645920" cy="548640"/>
          </a:xfrm>
          <a:prstGeom prst="rect">
            <a:avLst/>
          </a:prstGeom>
          <a:noFill/>
          <a:ln/>
        </p:spPr>
        <p:txBody>
          <a:bodyPr wrap="square" lIns="0" tIns="0" rIns="0" bIns="0" rtlCol="0" anchor="t"/>
          <a:lstStyle/>
          <a:p>
            <a:pPr marL="0" indent="0" algn="ctr">
              <a:buNone/>
            </a:pPr>
            <a:r>
              <a:rPr lang="en-US" sz="1050" dirty="0">
                <a:solidFill>
                  <a:schemeClr val="bg1"/>
                </a:solidFill>
              </a:rPr>
              <a:t>clean records</a:t>
            </a:r>
            <a:endParaRPr lang="en-US" sz="1050" dirty="0"/>
          </a:p>
        </p:txBody>
      </p:sp>
      <p:sp>
        <p:nvSpPr>
          <p:cNvPr id="13" name="Shape 11"/>
          <p:cNvSpPr/>
          <p:nvPr/>
        </p:nvSpPr>
        <p:spPr>
          <a:xfrm>
            <a:off x="6858000" y="1234440"/>
            <a:ext cx="1828800" cy="1188720"/>
          </a:xfrm>
          <a:prstGeom prst="roundRect">
            <a:avLst>
              <a:gd name="adj" fmla="val 6154"/>
            </a:avLst>
          </a:prstGeom>
          <a:solidFill>
            <a:schemeClr val="accent4"/>
          </a:solidFill>
          <a:ln/>
        </p:spPr>
      </p:sp>
      <p:sp>
        <p:nvSpPr>
          <p:cNvPr id="14" name="Text 12"/>
          <p:cNvSpPr txBox="1"/>
          <p:nvPr/>
        </p:nvSpPr>
        <p:spPr>
          <a:xfrm>
            <a:off x="6949440" y="1298448"/>
            <a:ext cx="1645920" cy="502920"/>
          </a:xfrm>
          <a:prstGeom prst="rect">
            <a:avLst/>
          </a:prstGeom>
          <a:noFill/>
          <a:ln/>
        </p:spPr>
        <p:txBody>
          <a:bodyPr wrap="square" lIns="0" tIns="0" rIns="0" bIns="0" rtlCol="0" anchor="t"/>
          <a:lstStyle/>
          <a:p>
            <a:pPr marL="0" indent="0" algn="ctr">
              <a:buNone/>
            </a:pPr>
            <a:r>
              <a:rPr lang="en-US" sz="2800" b="1" dirty="0">
                <a:solidFill>
                  <a:schemeClr val="tx1"/>
                </a:solidFill>
              </a:rPr>
              <a:t>106</a:t>
            </a:r>
            <a:endParaRPr lang="en-US" sz="2800" dirty="0"/>
          </a:p>
        </p:txBody>
      </p:sp>
      <p:sp>
        <p:nvSpPr>
          <p:cNvPr id="15" name="Text 13"/>
          <p:cNvSpPr txBox="1"/>
          <p:nvPr/>
        </p:nvSpPr>
        <p:spPr>
          <a:xfrm>
            <a:off x="6949440" y="1810512"/>
            <a:ext cx="1645920" cy="548640"/>
          </a:xfrm>
          <a:prstGeom prst="rect">
            <a:avLst/>
          </a:prstGeom>
          <a:noFill/>
          <a:ln/>
        </p:spPr>
        <p:txBody>
          <a:bodyPr wrap="square" lIns="0" tIns="0" rIns="0" bIns="0" rtlCol="0" anchor="t"/>
          <a:lstStyle/>
          <a:p>
            <a:pPr marL="0" indent="0" algn="ctr">
              <a:buNone/>
            </a:pPr>
            <a:r>
              <a:rPr lang="en-US" sz="1050" dirty="0">
                <a:solidFill>
                  <a:schemeClr val="tx1"/>
                </a:solidFill>
              </a:rPr>
              <a:t>nonpositive billing records flagged for review</a:t>
            </a:r>
            <a:endParaRPr lang="en-US" sz="1050" dirty="0"/>
          </a:p>
        </p:txBody>
      </p:sp>
      <p:sp>
        <p:nvSpPr>
          <p:cNvPr id="16" name="Text 14"/>
          <p:cNvSpPr txBox="1"/>
          <p:nvPr/>
        </p:nvSpPr>
        <p:spPr>
          <a:xfrm>
            <a:off x="2286000" y="1554480"/>
            <a:ext cx="365760" cy="548640"/>
          </a:xfrm>
          <a:prstGeom prst="rect">
            <a:avLst/>
          </a:prstGeom>
          <a:noFill/>
          <a:ln/>
        </p:spPr>
        <p:txBody>
          <a:bodyPr wrap="square" lIns="0" tIns="0" rIns="0" bIns="0" rtlCol="0" anchor="t"/>
          <a:lstStyle/>
          <a:p>
            <a:pPr marL="0" indent="0" algn="ctr">
              <a:buNone/>
            </a:pPr>
            <a:r>
              <a:rPr lang="en-US" sz="2800" b="1" dirty="0">
                <a:solidFill>
                  <a:schemeClr val="tx2"/>
                </a:solidFill>
              </a:rPr>
              <a:t>−</a:t>
            </a:r>
            <a:endParaRPr lang="en-US" sz="2800" dirty="0"/>
          </a:p>
        </p:txBody>
      </p:sp>
      <p:sp>
        <p:nvSpPr>
          <p:cNvPr id="17" name="Text 15"/>
          <p:cNvSpPr txBox="1"/>
          <p:nvPr/>
        </p:nvSpPr>
        <p:spPr>
          <a:xfrm>
            <a:off x="4480560" y="1554480"/>
            <a:ext cx="365760" cy="548640"/>
          </a:xfrm>
          <a:prstGeom prst="rect">
            <a:avLst/>
          </a:prstGeom>
          <a:noFill/>
          <a:ln/>
        </p:spPr>
        <p:txBody>
          <a:bodyPr wrap="square" lIns="0" tIns="0" rIns="0" bIns="0" rtlCol="0" anchor="t"/>
          <a:lstStyle/>
          <a:p>
            <a:pPr marL="0" indent="0" algn="ctr">
              <a:buNone/>
            </a:pPr>
            <a:r>
              <a:rPr lang="en-US" sz="2800" b="1" dirty="0">
                <a:solidFill>
                  <a:schemeClr val="tx2"/>
                </a:solidFill>
              </a:rPr>
              <a:t>=</a:t>
            </a:r>
            <a:endParaRPr lang="en-US" sz="2800" dirty="0"/>
          </a:p>
        </p:txBody>
      </p:sp>
      <p:sp>
        <p:nvSpPr>
          <p:cNvPr id="18" name="card"/>
          <p:cNvSpPr/>
          <p:nvPr/>
        </p:nvSpPr>
        <p:spPr>
          <a:xfrm>
            <a:off x="457200" y="2651760"/>
            <a:ext cx="1554480" cy="1600200"/>
          </a:xfrm>
          <a:prstGeom prst="roundRect">
            <a:avLst>
              <a:gd name="adj" fmla="val 4706"/>
            </a:avLst>
          </a:prstGeom>
          <a:solidFill>
            <a:schemeClr val="bg2"/>
          </a:solidFill>
          <a:ln w="9525">
            <a:solidFill>
              <a:srgbClr val="D5E3EC"/>
            </a:solidFill>
            <a:prstDash val="solid"/>
          </a:ln>
        </p:spPr>
      </p:sp>
      <p:sp>
        <p:nvSpPr>
          <p:cNvPr id="19" name="Shape 17"/>
          <p:cNvSpPr/>
          <p:nvPr/>
        </p:nvSpPr>
        <p:spPr>
          <a:xfrm>
            <a:off x="566928" y="2761488"/>
            <a:ext cx="347472" cy="347472"/>
          </a:xfrm>
          <a:prstGeom prst="ellipse">
            <a:avLst/>
          </a:prstGeom>
          <a:solidFill>
            <a:schemeClr val="accent2"/>
          </a:solidFill>
          <a:ln/>
        </p:spPr>
      </p:sp>
      <p:sp>
        <p:nvSpPr>
          <p:cNvPr id="20" name="Text 18"/>
          <p:cNvSpPr txBox="1"/>
          <p:nvPr/>
        </p:nvSpPr>
        <p:spPr>
          <a:xfrm>
            <a:off x="566928" y="276148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21" name="Text 19"/>
          <p:cNvSpPr txBox="1"/>
          <p:nvPr/>
        </p:nvSpPr>
        <p:spPr>
          <a:xfrm>
            <a:off x="566928" y="3182112"/>
            <a:ext cx="1371600" cy="274320"/>
          </a:xfrm>
          <a:prstGeom prst="rect">
            <a:avLst/>
          </a:prstGeom>
          <a:noFill/>
          <a:ln/>
        </p:spPr>
        <p:txBody>
          <a:bodyPr wrap="square" lIns="0" tIns="0" rIns="0" bIns="0" rtlCol="0" anchor="t"/>
          <a:lstStyle/>
          <a:p>
            <a:pPr marL="0" indent="0">
              <a:buNone/>
            </a:pPr>
            <a:r>
              <a:rPr lang="en-US" sz="1250" b="1" dirty="0">
                <a:solidFill>
                  <a:schemeClr val="tx2"/>
                </a:solidFill>
              </a:rPr>
              <a:t>Inspect</a:t>
            </a:r>
            <a:endParaRPr lang="en-US" sz="1250" dirty="0"/>
          </a:p>
        </p:txBody>
      </p:sp>
      <p:sp>
        <p:nvSpPr>
          <p:cNvPr id="22" name="Text 20"/>
          <p:cNvSpPr txBox="1"/>
          <p:nvPr/>
        </p:nvSpPr>
        <p:spPr>
          <a:xfrm>
            <a:off x="566928" y="3474720"/>
            <a:ext cx="1353312" cy="731520"/>
          </a:xfrm>
          <a:prstGeom prst="rect">
            <a:avLst/>
          </a:prstGeom>
          <a:noFill/>
          <a:ln/>
        </p:spPr>
        <p:txBody>
          <a:bodyPr wrap="square" lIns="0" tIns="0" rIns="0" bIns="0" rtlCol="0" anchor="t"/>
          <a:lstStyle/>
          <a:p>
            <a:pPr marL="0" indent="0">
              <a:buNone/>
            </a:pPr>
            <a:r>
              <a:rPr lang="en-US" sz="1050" dirty="0">
                <a:solidFill>
                  <a:schemeClr val="tx1"/>
                </a:solidFill>
              </a:rPr>
              <a:t>Data types, missing values, duplicate rows, date fields</a:t>
            </a:r>
            <a:endParaRPr lang="en-US" sz="1050" dirty="0"/>
          </a:p>
        </p:txBody>
      </p:sp>
      <p:sp>
        <p:nvSpPr>
          <p:cNvPr id="23" name="card"/>
          <p:cNvSpPr/>
          <p:nvPr/>
        </p:nvSpPr>
        <p:spPr>
          <a:xfrm>
            <a:off x="2125980" y="2651760"/>
            <a:ext cx="1554480" cy="1600200"/>
          </a:xfrm>
          <a:prstGeom prst="roundRect">
            <a:avLst>
              <a:gd name="adj" fmla="val 4706"/>
            </a:avLst>
          </a:prstGeom>
          <a:solidFill>
            <a:schemeClr val="bg2"/>
          </a:solidFill>
          <a:ln w="9525">
            <a:solidFill>
              <a:srgbClr val="D5E3EC"/>
            </a:solidFill>
            <a:prstDash val="solid"/>
          </a:ln>
        </p:spPr>
      </p:sp>
      <p:sp>
        <p:nvSpPr>
          <p:cNvPr id="24" name="Shape 22"/>
          <p:cNvSpPr/>
          <p:nvPr/>
        </p:nvSpPr>
        <p:spPr>
          <a:xfrm>
            <a:off x="2235708" y="2761488"/>
            <a:ext cx="347472" cy="347472"/>
          </a:xfrm>
          <a:prstGeom prst="ellipse">
            <a:avLst/>
          </a:prstGeom>
          <a:solidFill>
            <a:schemeClr val="accent2"/>
          </a:solidFill>
          <a:ln/>
        </p:spPr>
      </p:sp>
      <p:sp>
        <p:nvSpPr>
          <p:cNvPr id="25" name="Text 23"/>
          <p:cNvSpPr txBox="1"/>
          <p:nvPr/>
        </p:nvSpPr>
        <p:spPr>
          <a:xfrm>
            <a:off x="2235708" y="276148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6" name="Text 24"/>
          <p:cNvSpPr txBox="1"/>
          <p:nvPr/>
        </p:nvSpPr>
        <p:spPr>
          <a:xfrm>
            <a:off x="2235708" y="3182112"/>
            <a:ext cx="1371600" cy="274320"/>
          </a:xfrm>
          <a:prstGeom prst="rect">
            <a:avLst/>
          </a:prstGeom>
          <a:noFill/>
          <a:ln/>
        </p:spPr>
        <p:txBody>
          <a:bodyPr wrap="square" lIns="0" tIns="0" rIns="0" bIns="0" rtlCol="0" anchor="t"/>
          <a:lstStyle/>
          <a:p>
            <a:pPr marL="0" indent="0">
              <a:buNone/>
            </a:pPr>
            <a:r>
              <a:rPr lang="en-US" sz="1250" b="1" dirty="0">
                <a:solidFill>
                  <a:schemeClr val="tx2"/>
                </a:solidFill>
              </a:rPr>
              <a:t>Standardise</a:t>
            </a:r>
            <a:endParaRPr lang="en-US" sz="1250" dirty="0"/>
          </a:p>
        </p:txBody>
      </p:sp>
      <p:sp>
        <p:nvSpPr>
          <p:cNvPr id="27" name="Text 25"/>
          <p:cNvSpPr txBox="1"/>
          <p:nvPr/>
        </p:nvSpPr>
        <p:spPr>
          <a:xfrm>
            <a:off x="2235708" y="3474720"/>
            <a:ext cx="1353312" cy="731520"/>
          </a:xfrm>
          <a:prstGeom prst="rect">
            <a:avLst/>
          </a:prstGeom>
          <a:noFill/>
          <a:ln/>
        </p:spPr>
        <p:txBody>
          <a:bodyPr wrap="square" lIns="0" tIns="0" rIns="0" bIns="0" rtlCol="0" anchor="t"/>
          <a:lstStyle/>
          <a:p>
            <a:pPr marL="0" indent="0">
              <a:buNone/>
            </a:pPr>
            <a:r>
              <a:rPr lang="en-US" sz="1050" dirty="0">
                <a:solidFill>
                  <a:schemeClr val="tx1"/>
                </a:solidFill>
              </a:rPr>
              <a:t>Fix inconsistent text formats</a:t>
            </a:r>
            <a:endParaRPr lang="en-US" sz="1050" dirty="0"/>
          </a:p>
        </p:txBody>
      </p:sp>
      <p:sp>
        <p:nvSpPr>
          <p:cNvPr id="28" name="card"/>
          <p:cNvSpPr/>
          <p:nvPr/>
        </p:nvSpPr>
        <p:spPr>
          <a:xfrm>
            <a:off x="3794760" y="2651760"/>
            <a:ext cx="1554480" cy="1600200"/>
          </a:xfrm>
          <a:prstGeom prst="roundRect">
            <a:avLst>
              <a:gd name="adj" fmla="val 4706"/>
            </a:avLst>
          </a:prstGeom>
          <a:solidFill>
            <a:schemeClr val="bg2"/>
          </a:solidFill>
          <a:ln w="9525">
            <a:solidFill>
              <a:srgbClr val="D5E3EC"/>
            </a:solidFill>
            <a:prstDash val="solid"/>
          </a:ln>
        </p:spPr>
      </p:sp>
      <p:sp>
        <p:nvSpPr>
          <p:cNvPr id="29" name="Shape 27"/>
          <p:cNvSpPr/>
          <p:nvPr/>
        </p:nvSpPr>
        <p:spPr>
          <a:xfrm>
            <a:off x="3904488" y="2761488"/>
            <a:ext cx="347472" cy="347472"/>
          </a:xfrm>
          <a:prstGeom prst="ellipse">
            <a:avLst/>
          </a:prstGeom>
          <a:solidFill>
            <a:schemeClr val="accent2"/>
          </a:solidFill>
          <a:ln/>
        </p:spPr>
      </p:sp>
      <p:sp>
        <p:nvSpPr>
          <p:cNvPr id="30" name="Text 28"/>
          <p:cNvSpPr txBox="1"/>
          <p:nvPr/>
        </p:nvSpPr>
        <p:spPr>
          <a:xfrm>
            <a:off x="3904488" y="276148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31" name="Text 29"/>
          <p:cNvSpPr txBox="1"/>
          <p:nvPr/>
        </p:nvSpPr>
        <p:spPr>
          <a:xfrm>
            <a:off x="3904488" y="3182112"/>
            <a:ext cx="1371600" cy="274320"/>
          </a:xfrm>
          <a:prstGeom prst="rect">
            <a:avLst/>
          </a:prstGeom>
          <a:noFill/>
          <a:ln/>
        </p:spPr>
        <p:txBody>
          <a:bodyPr wrap="square" lIns="0" tIns="0" rIns="0" bIns="0" rtlCol="0" anchor="t"/>
          <a:lstStyle/>
          <a:p>
            <a:pPr marL="0" indent="0">
              <a:buNone/>
            </a:pPr>
            <a:r>
              <a:rPr lang="en-US" sz="1250" b="1" dirty="0">
                <a:solidFill>
                  <a:schemeClr val="tx2"/>
                </a:solidFill>
              </a:rPr>
              <a:t>De-duplicate</a:t>
            </a:r>
            <a:endParaRPr lang="en-US" sz="1250" dirty="0"/>
          </a:p>
        </p:txBody>
      </p:sp>
      <p:sp>
        <p:nvSpPr>
          <p:cNvPr id="32" name="Text 30"/>
          <p:cNvSpPr txBox="1"/>
          <p:nvPr/>
        </p:nvSpPr>
        <p:spPr>
          <a:xfrm>
            <a:off x="3904488" y="3474720"/>
            <a:ext cx="1353312" cy="731520"/>
          </a:xfrm>
          <a:prstGeom prst="rect">
            <a:avLst/>
          </a:prstGeom>
          <a:noFill/>
          <a:ln/>
        </p:spPr>
        <p:txBody>
          <a:bodyPr wrap="square" lIns="0" tIns="0" rIns="0" bIns="0" rtlCol="0" anchor="t"/>
          <a:lstStyle/>
          <a:p>
            <a:pPr marL="0" indent="0">
              <a:buNone/>
            </a:pPr>
            <a:r>
              <a:rPr lang="en-US" sz="1050" dirty="0">
                <a:solidFill>
                  <a:schemeClr val="tx1"/>
                </a:solidFill>
              </a:rPr>
              <a:t>534 duplicate records removed</a:t>
            </a:r>
            <a:endParaRPr lang="en-US" sz="1050" dirty="0"/>
          </a:p>
        </p:txBody>
      </p:sp>
      <p:sp>
        <p:nvSpPr>
          <p:cNvPr id="33" name="card"/>
          <p:cNvSpPr/>
          <p:nvPr/>
        </p:nvSpPr>
        <p:spPr>
          <a:xfrm>
            <a:off x="5463540" y="2651760"/>
            <a:ext cx="1554480" cy="1600200"/>
          </a:xfrm>
          <a:prstGeom prst="roundRect">
            <a:avLst>
              <a:gd name="adj" fmla="val 4706"/>
            </a:avLst>
          </a:prstGeom>
          <a:solidFill>
            <a:schemeClr val="bg2"/>
          </a:solidFill>
          <a:ln w="9525">
            <a:solidFill>
              <a:srgbClr val="D5E3EC"/>
            </a:solidFill>
            <a:prstDash val="solid"/>
          </a:ln>
        </p:spPr>
      </p:sp>
      <p:sp>
        <p:nvSpPr>
          <p:cNvPr id="34" name="Shape 32"/>
          <p:cNvSpPr/>
          <p:nvPr/>
        </p:nvSpPr>
        <p:spPr>
          <a:xfrm>
            <a:off x="5573268" y="2761488"/>
            <a:ext cx="347472" cy="347472"/>
          </a:xfrm>
          <a:prstGeom prst="ellipse">
            <a:avLst/>
          </a:prstGeom>
          <a:solidFill>
            <a:schemeClr val="accent2"/>
          </a:solidFill>
          <a:ln/>
        </p:spPr>
      </p:sp>
      <p:sp>
        <p:nvSpPr>
          <p:cNvPr id="35" name="Text 33"/>
          <p:cNvSpPr txBox="1"/>
          <p:nvPr/>
        </p:nvSpPr>
        <p:spPr>
          <a:xfrm>
            <a:off x="5573268" y="276148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36" name="Text 34"/>
          <p:cNvSpPr txBox="1"/>
          <p:nvPr/>
        </p:nvSpPr>
        <p:spPr>
          <a:xfrm>
            <a:off x="5573268" y="3182112"/>
            <a:ext cx="1371600" cy="274320"/>
          </a:xfrm>
          <a:prstGeom prst="rect">
            <a:avLst/>
          </a:prstGeom>
          <a:noFill/>
          <a:ln/>
        </p:spPr>
        <p:txBody>
          <a:bodyPr wrap="square" lIns="0" tIns="0" rIns="0" bIns="0" rtlCol="0" anchor="t"/>
          <a:lstStyle/>
          <a:p>
            <a:pPr marL="0" indent="0">
              <a:buNone/>
            </a:pPr>
            <a:r>
              <a:rPr lang="en-US" sz="1250" b="1" dirty="0">
                <a:solidFill>
                  <a:schemeClr val="tx2"/>
                </a:solidFill>
              </a:rPr>
              <a:t>Flag</a:t>
            </a:r>
            <a:endParaRPr lang="en-US" sz="1250" dirty="0"/>
          </a:p>
        </p:txBody>
      </p:sp>
      <p:sp>
        <p:nvSpPr>
          <p:cNvPr id="37" name="Text 35"/>
          <p:cNvSpPr txBox="1"/>
          <p:nvPr/>
        </p:nvSpPr>
        <p:spPr>
          <a:xfrm>
            <a:off x="5573268" y="3474720"/>
            <a:ext cx="1353312" cy="731520"/>
          </a:xfrm>
          <a:prstGeom prst="rect">
            <a:avLst/>
          </a:prstGeom>
          <a:noFill/>
          <a:ln/>
        </p:spPr>
        <p:txBody>
          <a:bodyPr wrap="square" lIns="0" tIns="0" rIns="0" bIns="0" rtlCol="0" anchor="t"/>
          <a:lstStyle/>
          <a:p>
            <a:pPr marL="0" indent="0">
              <a:buNone/>
            </a:pPr>
            <a:r>
              <a:rPr lang="en-US" sz="1050" dirty="0">
                <a:solidFill>
                  <a:schemeClr val="tx1"/>
                </a:solidFill>
              </a:rPr>
              <a:t>Nonpositive billing values flagged (106) for review</a:t>
            </a:r>
            <a:endParaRPr lang="en-US" sz="1050" dirty="0"/>
          </a:p>
        </p:txBody>
      </p:sp>
      <p:sp>
        <p:nvSpPr>
          <p:cNvPr id="38" name="card"/>
          <p:cNvSpPr/>
          <p:nvPr/>
        </p:nvSpPr>
        <p:spPr>
          <a:xfrm>
            <a:off x="7132320" y="2651760"/>
            <a:ext cx="1554480" cy="1600200"/>
          </a:xfrm>
          <a:prstGeom prst="roundRect">
            <a:avLst>
              <a:gd name="adj" fmla="val 4706"/>
            </a:avLst>
          </a:prstGeom>
          <a:solidFill>
            <a:schemeClr val="bg2"/>
          </a:solidFill>
          <a:ln w="9525">
            <a:solidFill>
              <a:srgbClr val="D5E3EC"/>
            </a:solidFill>
            <a:prstDash val="solid"/>
          </a:ln>
        </p:spPr>
      </p:sp>
      <p:sp>
        <p:nvSpPr>
          <p:cNvPr id="39" name="Shape 37"/>
          <p:cNvSpPr/>
          <p:nvPr/>
        </p:nvSpPr>
        <p:spPr>
          <a:xfrm>
            <a:off x="7242048" y="2761488"/>
            <a:ext cx="347472" cy="347472"/>
          </a:xfrm>
          <a:prstGeom prst="ellipse">
            <a:avLst/>
          </a:prstGeom>
          <a:solidFill>
            <a:schemeClr val="accent2"/>
          </a:solidFill>
          <a:ln/>
        </p:spPr>
      </p:sp>
      <p:sp>
        <p:nvSpPr>
          <p:cNvPr id="40" name="Text 38"/>
          <p:cNvSpPr txBox="1"/>
          <p:nvPr/>
        </p:nvSpPr>
        <p:spPr>
          <a:xfrm>
            <a:off x="7242048" y="276148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41" name="Text 39"/>
          <p:cNvSpPr txBox="1"/>
          <p:nvPr/>
        </p:nvSpPr>
        <p:spPr>
          <a:xfrm>
            <a:off x="7242048" y="3182112"/>
            <a:ext cx="1371600" cy="274320"/>
          </a:xfrm>
          <a:prstGeom prst="rect">
            <a:avLst/>
          </a:prstGeom>
          <a:noFill/>
          <a:ln/>
        </p:spPr>
        <p:txBody>
          <a:bodyPr wrap="square" lIns="0" tIns="0" rIns="0" bIns="0" rtlCol="0" anchor="t"/>
          <a:lstStyle/>
          <a:p>
            <a:pPr marL="0" indent="0">
              <a:buNone/>
            </a:pPr>
            <a:r>
              <a:rPr lang="en-US" sz="1250" b="1" dirty="0">
                <a:solidFill>
                  <a:schemeClr val="tx2"/>
                </a:solidFill>
              </a:rPr>
              <a:t>Preserve</a:t>
            </a:r>
            <a:endParaRPr lang="en-US" sz="1250" dirty="0"/>
          </a:p>
        </p:txBody>
      </p:sp>
      <p:sp>
        <p:nvSpPr>
          <p:cNvPr id="42" name="Text 40"/>
          <p:cNvSpPr txBox="1"/>
          <p:nvPr/>
        </p:nvSpPr>
        <p:spPr>
          <a:xfrm>
            <a:off x="7242048" y="3474720"/>
            <a:ext cx="1353312" cy="731520"/>
          </a:xfrm>
          <a:prstGeom prst="rect">
            <a:avLst/>
          </a:prstGeom>
          <a:noFill/>
          <a:ln/>
        </p:spPr>
        <p:txBody>
          <a:bodyPr wrap="square" lIns="0" tIns="0" rIns="0" bIns="0" rtlCol="0" anchor="t"/>
          <a:lstStyle/>
          <a:p>
            <a:pPr marL="0" indent="0">
              <a:buNone/>
            </a:pPr>
            <a:r>
              <a:rPr lang="en-US" sz="1050" dirty="0">
                <a:solidFill>
                  <a:schemeClr val="tx1"/>
                </a:solidFill>
              </a:rPr>
              <a:t>Raw file kept; every cleaning decision documented</a:t>
            </a:r>
            <a:endParaRPr lang="en-US" sz="1050" dirty="0"/>
          </a:p>
        </p:txBody>
      </p:sp>
      <p:sp>
        <p:nvSpPr>
          <p:cNvPr id="43" name="Text 41"/>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000" i="1" dirty="0">
                <a:solidFill>
                  <a:schemeClr val="accent5"/>
                </a:solidFill>
              </a:rPr>
              <a:t>54,966 = 55,500 − 534. The 106 flagged billing records are a separate review check, not part of the 534 duplicates.</a:t>
            </a:r>
            <a:endParaRPr lang="en-US" sz="1000" dirty="0"/>
          </a:p>
        </p:txBody>
      </p:sp>
      <p:sp>
        <p:nvSpPr>
          <p:cNvPr id="44"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TRANSFORMATION &amp; PYTHON EDA</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Derived fields and exploratory analysis</a:t>
            </a:r>
            <a:endParaRPr lang="en-US" sz="2600" dirty="0"/>
          </a:p>
        </p:txBody>
      </p:sp>
      <p:sp>
        <p:nvSpPr>
          <p:cNvPr id="4" name="Text 2"/>
          <p:cNvSpPr txBox="1"/>
          <p:nvPr/>
        </p:nvSpPr>
        <p:spPr>
          <a:xfrm>
            <a:off x="457200" y="1188720"/>
            <a:ext cx="3931920" cy="274320"/>
          </a:xfrm>
          <a:prstGeom prst="rect">
            <a:avLst/>
          </a:prstGeom>
          <a:noFill/>
          <a:ln/>
        </p:spPr>
        <p:txBody>
          <a:bodyPr wrap="square" lIns="0" tIns="0" rIns="0" bIns="0" rtlCol="0" anchor="t"/>
          <a:lstStyle/>
          <a:p>
            <a:pPr marL="0" indent="0">
              <a:buNone/>
            </a:pPr>
            <a:r>
              <a:rPr lang="en-US" sz="1400" b="1" dirty="0">
                <a:solidFill>
                  <a:schemeClr val="accent2"/>
                </a:solidFill>
              </a:rPr>
              <a:t>Data transformation</a:t>
            </a:r>
            <a:endParaRPr lang="en-US" sz="1400" dirty="0"/>
          </a:p>
        </p:txBody>
      </p:sp>
      <p:sp>
        <p:nvSpPr>
          <p:cNvPr id="5" name="card"/>
          <p:cNvSpPr/>
          <p:nvPr/>
        </p:nvSpPr>
        <p:spPr>
          <a:xfrm>
            <a:off x="457200" y="1508760"/>
            <a:ext cx="3931920" cy="841248"/>
          </a:xfrm>
          <a:prstGeom prst="roundRect">
            <a:avLst>
              <a:gd name="adj" fmla="val 8696"/>
            </a:avLst>
          </a:prstGeom>
          <a:solidFill>
            <a:schemeClr val="bg2"/>
          </a:solidFill>
          <a:ln w="9525">
            <a:solidFill>
              <a:srgbClr val="D5E3EC"/>
            </a:solidFill>
            <a:prstDash val="solid"/>
          </a:ln>
        </p:spPr>
      </p:sp>
      <p:sp>
        <p:nvSpPr>
          <p:cNvPr id="6" name="iconbg"/>
          <p:cNvSpPr/>
          <p:nvPr/>
        </p:nvSpPr>
        <p:spPr>
          <a:xfrm>
            <a:off x="594360" y="1691640"/>
            <a:ext cx="475488" cy="475488"/>
          </a:xfrm>
          <a:prstGeom prst="ellipse">
            <a:avLst/>
          </a:prstGeom>
          <a:solidFill>
            <a:schemeClr val="accent1"/>
          </a:solidFill>
          <a:ln/>
        </p:spPr>
      </p:sp>
      <p:pic>
        <p:nvPicPr>
          <p:cNvPr id="7" name="Image 0" descr="Patient age groups"/>
          <p:cNvPicPr>
            <a:picLocks noChangeAspect="1"/>
          </p:cNvPicPr>
          <p:nvPr/>
        </p:nvPicPr>
        <p:blipFill>
          <a:blip r:embed="rId3"/>
          <a:stretch>
            <a:fillRect/>
          </a:stretch>
        </p:blipFill>
        <p:spPr>
          <a:xfrm>
            <a:off x="713232" y="1810512"/>
            <a:ext cx="237744" cy="237744"/>
          </a:xfrm>
          <a:prstGeom prst="rect">
            <a:avLst/>
          </a:prstGeom>
        </p:spPr>
      </p:pic>
      <p:sp>
        <p:nvSpPr>
          <p:cNvPr id="8" name="Text 5"/>
          <p:cNvSpPr txBox="1"/>
          <p:nvPr/>
        </p:nvSpPr>
        <p:spPr>
          <a:xfrm>
            <a:off x="1234440" y="1664208"/>
            <a:ext cx="3017520" cy="274320"/>
          </a:xfrm>
          <a:prstGeom prst="rect">
            <a:avLst/>
          </a:prstGeom>
          <a:noFill/>
          <a:ln/>
        </p:spPr>
        <p:txBody>
          <a:bodyPr wrap="square" lIns="0" tIns="0" rIns="0" bIns="0" rtlCol="0" anchor="t"/>
          <a:lstStyle/>
          <a:p>
            <a:pPr marL="0" indent="0">
              <a:buNone/>
            </a:pPr>
            <a:r>
              <a:rPr lang="en-US" sz="1300" b="1" dirty="0">
                <a:solidFill>
                  <a:schemeClr val="tx2"/>
                </a:solidFill>
              </a:rPr>
              <a:t>Patient age groups</a:t>
            </a:r>
            <a:endParaRPr lang="en-US" sz="1300" dirty="0"/>
          </a:p>
        </p:txBody>
      </p:sp>
      <p:sp>
        <p:nvSpPr>
          <p:cNvPr id="9" name="Text 6"/>
          <p:cNvSpPr txBox="1"/>
          <p:nvPr/>
        </p:nvSpPr>
        <p:spPr>
          <a:xfrm>
            <a:off x="1234440" y="1965960"/>
            <a:ext cx="3017520" cy="274320"/>
          </a:xfrm>
          <a:prstGeom prst="rect">
            <a:avLst/>
          </a:prstGeom>
          <a:noFill/>
          <a:ln/>
        </p:spPr>
        <p:txBody>
          <a:bodyPr wrap="square" lIns="0" tIns="0" rIns="0" bIns="0" rtlCol="0" anchor="t"/>
          <a:lstStyle/>
          <a:p>
            <a:pPr marL="0" indent="0">
              <a:buNone/>
            </a:pPr>
            <a:r>
              <a:rPr lang="en-US" sz="1100" dirty="0">
                <a:solidFill>
                  <a:schemeClr val="accent5"/>
                </a:solidFill>
              </a:rPr>
              <a:t>Created where the data supports it</a:t>
            </a:r>
            <a:endParaRPr lang="en-US" sz="1100" dirty="0"/>
          </a:p>
        </p:txBody>
      </p:sp>
      <p:sp>
        <p:nvSpPr>
          <p:cNvPr id="10" name="card"/>
          <p:cNvSpPr/>
          <p:nvPr/>
        </p:nvSpPr>
        <p:spPr>
          <a:xfrm>
            <a:off x="457200" y="2468880"/>
            <a:ext cx="3931920" cy="841248"/>
          </a:xfrm>
          <a:prstGeom prst="roundRect">
            <a:avLst>
              <a:gd name="adj" fmla="val 8696"/>
            </a:avLst>
          </a:prstGeom>
          <a:solidFill>
            <a:schemeClr val="bg2"/>
          </a:solidFill>
          <a:ln w="9525">
            <a:solidFill>
              <a:srgbClr val="D5E3EC"/>
            </a:solidFill>
            <a:prstDash val="solid"/>
          </a:ln>
        </p:spPr>
      </p:sp>
      <p:sp>
        <p:nvSpPr>
          <p:cNvPr id="11" name="iconbg"/>
          <p:cNvSpPr/>
          <p:nvPr/>
        </p:nvSpPr>
        <p:spPr>
          <a:xfrm>
            <a:off x="594360" y="2651760"/>
            <a:ext cx="475488" cy="475488"/>
          </a:xfrm>
          <a:prstGeom prst="ellipse">
            <a:avLst/>
          </a:prstGeom>
          <a:solidFill>
            <a:schemeClr val="accent2"/>
          </a:solidFill>
          <a:ln/>
        </p:spPr>
      </p:sp>
      <p:pic>
        <p:nvPicPr>
          <p:cNvPr id="12" name="Image 1" descr="Length of stay"/>
          <p:cNvPicPr>
            <a:picLocks noChangeAspect="1"/>
          </p:cNvPicPr>
          <p:nvPr/>
        </p:nvPicPr>
        <p:blipFill>
          <a:blip r:embed="rId4"/>
          <a:stretch>
            <a:fillRect/>
          </a:stretch>
        </p:blipFill>
        <p:spPr>
          <a:xfrm>
            <a:off x="713232" y="2770632"/>
            <a:ext cx="237744" cy="237744"/>
          </a:xfrm>
          <a:prstGeom prst="rect">
            <a:avLst/>
          </a:prstGeom>
        </p:spPr>
      </p:pic>
      <p:sp>
        <p:nvSpPr>
          <p:cNvPr id="13" name="Text 9"/>
          <p:cNvSpPr txBox="1"/>
          <p:nvPr/>
        </p:nvSpPr>
        <p:spPr>
          <a:xfrm>
            <a:off x="1234440" y="2624328"/>
            <a:ext cx="3017520" cy="274320"/>
          </a:xfrm>
          <a:prstGeom prst="rect">
            <a:avLst/>
          </a:prstGeom>
          <a:noFill/>
          <a:ln/>
        </p:spPr>
        <p:txBody>
          <a:bodyPr wrap="square" lIns="0" tIns="0" rIns="0" bIns="0" rtlCol="0" anchor="t"/>
          <a:lstStyle/>
          <a:p>
            <a:pPr marL="0" indent="0">
              <a:buNone/>
            </a:pPr>
            <a:r>
              <a:rPr lang="en-US" sz="1300" b="1" dirty="0">
                <a:solidFill>
                  <a:schemeClr val="tx2"/>
                </a:solidFill>
              </a:rPr>
              <a:t>Length of stay</a:t>
            </a:r>
            <a:endParaRPr lang="en-US" sz="1300" dirty="0"/>
          </a:p>
        </p:txBody>
      </p:sp>
      <p:sp>
        <p:nvSpPr>
          <p:cNvPr id="14" name="Text 10"/>
          <p:cNvSpPr txBox="1"/>
          <p:nvPr/>
        </p:nvSpPr>
        <p:spPr>
          <a:xfrm>
            <a:off x="1234440" y="2926080"/>
            <a:ext cx="3017520" cy="274320"/>
          </a:xfrm>
          <a:prstGeom prst="rect">
            <a:avLst/>
          </a:prstGeom>
          <a:noFill/>
          <a:ln/>
        </p:spPr>
        <p:txBody>
          <a:bodyPr wrap="square" lIns="0" tIns="0" rIns="0" bIns="0" rtlCol="0" anchor="t"/>
          <a:lstStyle/>
          <a:p>
            <a:pPr marL="0" indent="0">
              <a:buNone/>
            </a:pPr>
            <a:r>
              <a:rPr lang="en-US" sz="1100" dirty="0">
                <a:solidFill>
                  <a:schemeClr val="accent5"/>
                </a:solidFill>
              </a:rPr>
              <a:t>Discharge date − admission date</a:t>
            </a:r>
            <a:endParaRPr lang="en-US" sz="1100" dirty="0"/>
          </a:p>
        </p:txBody>
      </p:sp>
      <p:sp>
        <p:nvSpPr>
          <p:cNvPr id="15" name="card"/>
          <p:cNvSpPr/>
          <p:nvPr/>
        </p:nvSpPr>
        <p:spPr>
          <a:xfrm>
            <a:off x="457200" y="3429000"/>
            <a:ext cx="3931920" cy="841248"/>
          </a:xfrm>
          <a:prstGeom prst="roundRect">
            <a:avLst>
              <a:gd name="adj" fmla="val 8696"/>
            </a:avLst>
          </a:prstGeom>
          <a:solidFill>
            <a:schemeClr val="bg2"/>
          </a:solidFill>
          <a:ln w="9525">
            <a:solidFill>
              <a:srgbClr val="D5E3EC"/>
            </a:solidFill>
            <a:prstDash val="solid"/>
          </a:ln>
        </p:spPr>
      </p:sp>
      <p:sp>
        <p:nvSpPr>
          <p:cNvPr id="16" name="iconbg"/>
          <p:cNvSpPr/>
          <p:nvPr/>
        </p:nvSpPr>
        <p:spPr>
          <a:xfrm>
            <a:off x="594360" y="3611880"/>
            <a:ext cx="475488" cy="475488"/>
          </a:xfrm>
          <a:prstGeom prst="ellipse">
            <a:avLst/>
          </a:prstGeom>
          <a:solidFill>
            <a:schemeClr val="accent3"/>
          </a:solidFill>
          <a:ln/>
        </p:spPr>
      </p:sp>
      <p:pic>
        <p:nvPicPr>
          <p:cNvPr id="17" name="Image 2" descr="Validate before use"/>
          <p:cNvPicPr>
            <a:picLocks noChangeAspect="1"/>
          </p:cNvPicPr>
          <p:nvPr/>
        </p:nvPicPr>
        <p:blipFill>
          <a:blip r:embed="rId5"/>
          <a:stretch>
            <a:fillRect/>
          </a:stretch>
        </p:blipFill>
        <p:spPr>
          <a:xfrm>
            <a:off x="713232" y="3730752"/>
            <a:ext cx="237744" cy="237744"/>
          </a:xfrm>
          <a:prstGeom prst="rect">
            <a:avLst/>
          </a:prstGeom>
        </p:spPr>
      </p:pic>
      <p:sp>
        <p:nvSpPr>
          <p:cNvPr id="18" name="Text 13"/>
          <p:cNvSpPr txBox="1"/>
          <p:nvPr/>
        </p:nvSpPr>
        <p:spPr>
          <a:xfrm>
            <a:off x="1234440" y="3584448"/>
            <a:ext cx="3017520" cy="274320"/>
          </a:xfrm>
          <a:prstGeom prst="rect">
            <a:avLst/>
          </a:prstGeom>
          <a:noFill/>
          <a:ln/>
        </p:spPr>
        <p:txBody>
          <a:bodyPr wrap="square" lIns="0" tIns="0" rIns="0" bIns="0" rtlCol="0" anchor="t"/>
          <a:lstStyle/>
          <a:p>
            <a:pPr marL="0" indent="0">
              <a:buNone/>
            </a:pPr>
            <a:r>
              <a:rPr lang="en-US" sz="1300" b="1" dirty="0">
                <a:solidFill>
                  <a:schemeClr val="tx2"/>
                </a:solidFill>
              </a:rPr>
              <a:t>Validate before use</a:t>
            </a:r>
            <a:endParaRPr lang="en-US" sz="1300" dirty="0"/>
          </a:p>
        </p:txBody>
      </p:sp>
      <p:sp>
        <p:nvSpPr>
          <p:cNvPr id="19" name="Text 14"/>
          <p:cNvSpPr txBox="1"/>
          <p:nvPr/>
        </p:nvSpPr>
        <p:spPr>
          <a:xfrm>
            <a:off x="1234440" y="3886200"/>
            <a:ext cx="3017520" cy="274320"/>
          </a:xfrm>
          <a:prstGeom prst="rect">
            <a:avLst/>
          </a:prstGeom>
          <a:noFill/>
          <a:ln/>
        </p:spPr>
        <p:txBody>
          <a:bodyPr wrap="square" lIns="0" tIns="0" rIns="0" bIns="0" rtlCol="0" anchor="t"/>
          <a:lstStyle/>
          <a:p>
            <a:pPr marL="0" indent="0">
              <a:buNone/>
            </a:pPr>
            <a:r>
              <a:rPr lang="en-US" sz="1100" dirty="0">
                <a:solidFill>
                  <a:schemeClr val="accent5"/>
                </a:solidFill>
              </a:rPr>
              <a:t>Derived values checked before analysis</a:t>
            </a:r>
            <a:endParaRPr lang="en-US" sz="1100" dirty="0"/>
          </a:p>
        </p:txBody>
      </p:sp>
      <p:sp>
        <p:nvSpPr>
          <p:cNvPr id="20" name="Text 15"/>
          <p:cNvSpPr txBox="1"/>
          <p:nvPr/>
        </p:nvSpPr>
        <p:spPr>
          <a:xfrm>
            <a:off x="4663440" y="1188720"/>
            <a:ext cx="4023360" cy="274320"/>
          </a:xfrm>
          <a:prstGeom prst="rect">
            <a:avLst/>
          </a:prstGeom>
          <a:noFill/>
          <a:ln/>
        </p:spPr>
        <p:txBody>
          <a:bodyPr wrap="square" lIns="0" tIns="0" rIns="0" bIns="0" rtlCol="0" anchor="t"/>
          <a:lstStyle/>
          <a:p>
            <a:pPr marL="0" indent="0">
              <a:buNone/>
            </a:pPr>
            <a:r>
              <a:rPr lang="en-US" sz="1400" b="1" dirty="0">
                <a:solidFill>
                  <a:schemeClr val="accent2"/>
                </a:solidFill>
              </a:rPr>
              <a:t>Exploratory analysis (clear charts)</a:t>
            </a:r>
            <a:endParaRPr lang="en-US" sz="1400" dirty="0"/>
          </a:p>
        </p:txBody>
      </p:sp>
      <p:sp>
        <p:nvSpPr>
          <p:cNvPr id="21" name="card"/>
          <p:cNvSpPr/>
          <p:nvPr/>
        </p:nvSpPr>
        <p:spPr>
          <a:xfrm>
            <a:off x="4663440" y="1508760"/>
            <a:ext cx="1965960" cy="841248"/>
          </a:xfrm>
          <a:prstGeom prst="roundRect">
            <a:avLst>
              <a:gd name="adj" fmla="val 8696"/>
            </a:avLst>
          </a:prstGeom>
          <a:solidFill>
            <a:schemeClr val="bg1"/>
          </a:solidFill>
          <a:ln w="9525">
            <a:solidFill>
              <a:srgbClr val="D5E3EC"/>
            </a:solidFill>
            <a:prstDash val="solid"/>
          </a:ln>
        </p:spPr>
      </p:sp>
      <p:sp>
        <p:nvSpPr>
          <p:cNvPr id="22" name="iconbg"/>
          <p:cNvSpPr/>
          <p:nvPr/>
        </p:nvSpPr>
        <p:spPr>
          <a:xfrm>
            <a:off x="4754880" y="1719072"/>
            <a:ext cx="420624" cy="420624"/>
          </a:xfrm>
          <a:prstGeom prst="ellipse">
            <a:avLst/>
          </a:prstGeom>
          <a:solidFill>
            <a:schemeClr val="accent1"/>
          </a:solidFill>
          <a:ln/>
        </p:spPr>
      </p:sp>
      <p:pic>
        <p:nvPicPr>
          <p:cNvPr id="23" name="Image 3" descr="Patient demographics"/>
          <p:cNvPicPr>
            <a:picLocks noChangeAspect="1"/>
          </p:cNvPicPr>
          <p:nvPr/>
        </p:nvPicPr>
        <p:blipFill>
          <a:blip r:embed="rId6"/>
          <a:stretch>
            <a:fillRect/>
          </a:stretch>
        </p:blipFill>
        <p:spPr>
          <a:xfrm>
            <a:off x="4860036" y="1824228"/>
            <a:ext cx="210312" cy="210312"/>
          </a:xfrm>
          <a:prstGeom prst="rect">
            <a:avLst/>
          </a:prstGeom>
        </p:spPr>
      </p:pic>
      <p:sp>
        <p:nvSpPr>
          <p:cNvPr id="24" name="Text 18"/>
          <p:cNvSpPr txBox="1"/>
          <p:nvPr/>
        </p:nvSpPr>
        <p:spPr>
          <a:xfrm>
            <a:off x="5257800" y="150876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Patient demographics</a:t>
            </a:r>
            <a:endParaRPr lang="en-US" sz="1100" dirty="0"/>
          </a:p>
        </p:txBody>
      </p:sp>
      <p:sp>
        <p:nvSpPr>
          <p:cNvPr id="25" name="card"/>
          <p:cNvSpPr/>
          <p:nvPr/>
        </p:nvSpPr>
        <p:spPr>
          <a:xfrm>
            <a:off x="6720840" y="1508760"/>
            <a:ext cx="1965960" cy="841248"/>
          </a:xfrm>
          <a:prstGeom prst="roundRect">
            <a:avLst>
              <a:gd name="adj" fmla="val 8696"/>
            </a:avLst>
          </a:prstGeom>
          <a:solidFill>
            <a:schemeClr val="bg1"/>
          </a:solidFill>
          <a:ln w="9525">
            <a:solidFill>
              <a:srgbClr val="D5E3EC"/>
            </a:solidFill>
            <a:prstDash val="solid"/>
          </a:ln>
        </p:spPr>
      </p:sp>
      <p:sp>
        <p:nvSpPr>
          <p:cNvPr id="26" name="iconbg"/>
          <p:cNvSpPr/>
          <p:nvPr/>
        </p:nvSpPr>
        <p:spPr>
          <a:xfrm>
            <a:off x="6812280" y="1719072"/>
            <a:ext cx="420624" cy="420624"/>
          </a:xfrm>
          <a:prstGeom prst="ellipse">
            <a:avLst/>
          </a:prstGeom>
          <a:solidFill>
            <a:schemeClr val="accent2"/>
          </a:solidFill>
          <a:ln/>
        </p:spPr>
      </p:sp>
      <p:pic>
        <p:nvPicPr>
          <p:cNvPr id="27" name="Image 4" descr="Medical-condition counts"/>
          <p:cNvPicPr>
            <a:picLocks noChangeAspect="1"/>
          </p:cNvPicPr>
          <p:nvPr/>
        </p:nvPicPr>
        <p:blipFill>
          <a:blip r:embed="rId7"/>
          <a:stretch>
            <a:fillRect/>
          </a:stretch>
        </p:blipFill>
        <p:spPr>
          <a:xfrm>
            <a:off x="6917436" y="1824228"/>
            <a:ext cx="210312" cy="210312"/>
          </a:xfrm>
          <a:prstGeom prst="rect">
            <a:avLst/>
          </a:prstGeom>
        </p:spPr>
      </p:pic>
      <p:sp>
        <p:nvSpPr>
          <p:cNvPr id="28" name="Text 21"/>
          <p:cNvSpPr txBox="1"/>
          <p:nvPr/>
        </p:nvSpPr>
        <p:spPr>
          <a:xfrm>
            <a:off x="7315200" y="150876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Medical-condition counts</a:t>
            </a:r>
            <a:endParaRPr lang="en-US" sz="1100" dirty="0"/>
          </a:p>
        </p:txBody>
      </p:sp>
      <p:sp>
        <p:nvSpPr>
          <p:cNvPr id="29" name="card"/>
          <p:cNvSpPr/>
          <p:nvPr/>
        </p:nvSpPr>
        <p:spPr>
          <a:xfrm>
            <a:off x="4663440" y="2468880"/>
            <a:ext cx="1965960" cy="841248"/>
          </a:xfrm>
          <a:prstGeom prst="roundRect">
            <a:avLst>
              <a:gd name="adj" fmla="val 8696"/>
            </a:avLst>
          </a:prstGeom>
          <a:solidFill>
            <a:schemeClr val="bg1"/>
          </a:solidFill>
          <a:ln w="9525">
            <a:solidFill>
              <a:srgbClr val="D5E3EC"/>
            </a:solidFill>
            <a:prstDash val="solid"/>
          </a:ln>
        </p:spPr>
      </p:sp>
      <p:sp>
        <p:nvSpPr>
          <p:cNvPr id="30" name="iconbg"/>
          <p:cNvSpPr/>
          <p:nvPr/>
        </p:nvSpPr>
        <p:spPr>
          <a:xfrm>
            <a:off x="4754880" y="2679192"/>
            <a:ext cx="420624" cy="420624"/>
          </a:xfrm>
          <a:prstGeom prst="ellipse">
            <a:avLst/>
          </a:prstGeom>
          <a:solidFill>
            <a:schemeClr val="accent1"/>
          </a:solidFill>
          <a:ln/>
        </p:spPr>
      </p:sp>
      <p:pic>
        <p:nvPicPr>
          <p:cNvPr id="31" name="Image 5" descr="Admission types"/>
          <p:cNvPicPr>
            <a:picLocks noChangeAspect="1"/>
          </p:cNvPicPr>
          <p:nvPr/>
        </p:nvPicPr>
        <p:blipFill>
          <a:blip r:embed="rId8"/>
          <a:stretch>
            <a:fillRect/>
          </a:stretch>
        </p:blipFill>
        <p:spPr>
          <a:xfrm>
            <a:off x="4860036" y="2784348"/>
            <a:ext cx="210312" cy="210312"/>
          </a:xfrm>
          <a:prstGeom prst="rect">
            <a:avLst/>
          </a:prstGeom>
        </p:spPr>
      </p:pic>
      <p:sp>
        <p:nvSpPr>
          <p:cNvPr id="32" name="Text 24"/>
          <p:cNvSpPr txBox="1"/>
          <p:nvPr/>
        </p:nvSpPr>
        <p:spPr>
          <a:xfrm>
            <a:off x="5257800" y="246888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Admission types</a:t>
            </a:r>
            <a:endParaRPr lang="en-US" sz="1100" dirty="0"/>
          </a:p>
        </p:txBody>
      </p:sp>
      <p:sp>
        <p:nvSpPr>
          <p:cNvPr id="33" name="card"/>
          <p:cNvSpPr/>
          <p:nvPr/>
        </p:nvSpPr>
        <p:spPr>
          <a:xfrm>
            <a:off x="6720840" y="2468880"/>
            <a:ext cx="1965960" cy="841248"/>
          </a:xfrm>
          <a:prstGeom prst="roundRect">
            <a:avLst>
              <a:gd name="adj" fmla="val 8696"/>
            </a:avLst>
          </a:prstGeom>
          <a:solidFill>
            <a:schemeClr val="bg1"/>
          </a:solidFill>
          <a:ln w="9525">
            <a:solidFill>
              <a:srgbClr val="D5E3EC"/>
            </a:solidFill>
            <a:prstDash val="solid"/>
          </a:ln>
        </p:spPr>
      </p:sp>
      <p:sp>
        <p:nvSpPr>
          <p:cNvPr id="34" name="iconbg"/>
          <p:cNvSpPr/>
          <p:nvPr/>
        </p:nvSpPr>
        <p:spPr>
          <a:xfrm>
            <a:off x="6812280" y="2679192"/>
            <a:ext cx="420624" cy="420624"/>
          </a:xfrm>
          <a:prstGeom prst="ellipse">
            <a:avLst/>
          </a:prstGeom>
          <a:solidFill>
            <a:schemeClr val="accent2"/>
          </a:solidFill>
          <a:ln/>
        </p:spPr>
      </p:sp>
      <p:pic>
        <p:nvPicPr>
          <p:cNvPr id="35" name="Image 6" descr="Billing distributions"/>
          <p:cNvPicPr>
            <a:picLocks noChangeAspect="1"/>
          </p:cNvPicPr>
          <p:nvPr/>
        </p:nvPicPr>
        <p:blipFill>
          <a:blip r:embed="rId9"/>
          <a:stretch>
            <a:fillRect/>
          </a:stretch>
        </p:blipFill>
        <p:spPr>
          <a:xfrm>
            <a:off x="6917436" y="2784348"/>
            <a:ext cx="210312" cy="210312"/>
          </a:xfrm>
          <a:prstGeom prst="rect">
            <a:avLst/>
          </a:prstGeom>
        </p:spPr>
      </p:pic>
      <p:sp>
        <p:nvSpPr>
          <p:cNvPr id="36" name="Text 27"/>
          <p:cNvSpPr txBox="1"/>
          <p:nvPr/>
        </p:nvSpPr>
        <p:spPr>
          <a:xfrm>
            <a:off x="7315200" y="246888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Billing distributions</a:t>
            </a:r>
            <a:endParaRPr lang="en-US" sz="1100" dirty="0"/>
          </a:p>
        </p:txBody>
      </p:sp>
      <p:sp>
        <p:nvSpPr>
          <p:cNvPr id="37" name="card"/>
          <p:cNvSpPr/>
          <p:nvPr/>
        </p:nvSpPr>
        <p:spPr>
          <a:xfrm>
            <a:off x="4663440" y="3429000"/>
            <a:ext cx="1965960" cy="841248"/>
          </a:xfrm>
          <a:prstGeom prst="roundRect">
            <a:avLst>
              <a:gd name="adj" fmla="val 8696"/>
            </a:avLst>
          </a:prstGeom>
          <a:solidFill>
            <a:schemeClr val="bg1"/>
          </a:solidFill>
          <a:ln w="9525">
            <a:solidFill>
              <a:srgbClr val="D5E3EC"/>
            </a:solidFill>
            <a:prstDash val="solid"/>
          </a:ln>
        </p:spPr>
      </p:sp>
      <p:sp>
        <p:nvSpPr>
          <p:cNvPr id="38" name="iconbg"/>
          <p:cNvSpPr/>
          <p:nvPr/>
        </p:nvSpPr>
        <p:spPr>
          <a:xfrm>
            <a:off x="4754880" y="3639312"/>
            <a:ext cx="420624" cy="420624"/>
          </a:xfrm>
          <a:prstGeom prst="ellipse">
            <a:avLst/>
          </a:prstGeom>
          <a:solidFill>
            <a:schemeClr val="accent1"/>
          </a:solidFill>
          <a:ln/>
        </p:spPr>
      </p:sp>
      <p:pic>
        <p:nvPicPr>
          <p:cNvPr id="39" name="Image 7" descr="Insurance-provider comparisons"/>
          <p:cNvPicPr>
            <a:picLocks noChangeAspect="1"/>
          </p:cNvPicPr>
          <p:nvPr/>
        </p:nvPicPr>
        <p:blipFill>
          <a:blip r:embed="rId10"/>
          <a:stretch>
            <a:fillRect/>
          </a:stretch>
        </p:blipFill>
        <p:spPr>
          <a:xfrm>
            <a:off x="4860036" y="3744468"/>
            <a:ext cx="210312" cy="210312"/>
          </a:xfrm>
          <a:prstGeom prst="rect">
            <a:avLst/>
          </a:prstGeom>
        </p:spPr>
      </p:pic>
      <p:sp>
        <p:nvSpPr>
          <p:cNvPr id="40" name="Text 30"/>
          <p:cNvSpPr txBox="1"/>
          <p:nvPr/>
        </p:nvSpPr>
        <p:spPr>
          <a:xfrm>
            <a:off x="5257800" y="342900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Insurance-provider comparisons</a:t>
            </a:r>
            <a:endParaRPr lang="en-US" sz="1100" dirty="0"/>
          </a:p>
        </p:txBody>
      </p:sp>
      <p:sp>
        <p:nvSpPr>
          <p:cNvPr id="41" name="card"/>
          <p:cNvSpPr/>
          <p:nvPr/>
        </p:nvSpPr>
        <p:spPr>
          <a:xfrm>
            <a:off x="6720840" y="3429000"/>
            <a:ext cx="1965960" cy="841248"/>
          </a:xfrm>
          <a:prstGeom prst="roundRect">
            <a:avLst>
              <a:gd name="adj" fmla="val 8696"/>
            </a:avLst>
          </a:prstGeom>
          <a:solidFill>
            <a:schemeClr val="bg1"/>
          </a:solidFill>
          <a:ln w="9525">
            <a:solidFill>
              <a:srgbClr val="D5E3EC"/>
            </a:solidFill>
            <a:prstDash val="solid"/>
          </a:ln>
        </p:spPr>
      </p:sp>
      <p:sp>
        <p:nvSpPr>
          <p:cNvPr id="42" name="iconbg"/>
          <p:cNvSpPr/>
          <p:nvPr/>
        </p:nvSpPr>
        <p:spPr>
          <a:xfrm>
            <a:off x="6812280" y="3639312"/>
            <a:ext cx="420624" cy="420624"/>
          </a:xfrm>
          <a:prstGeom prst="ellipse">
            <a:avLst/>
          </a:prstGeom>
          <a:solidFill>
            <a:schemeClr val="accent2"/>
          </a:solidFill>
          <a:ln/>
        </p:spPr>
      </p:sp>
      <p:pic>
        <p:nvPicPr>
          <p:cNvPr id="43" name="Image 8" descr="Length-of-stay patterns"/>
          <p:cNvPicPr>
            <a:picLocks noChangeAspect="1"/>
          </p:cNvPicPr>
          <p:nvPr/>
        </p:nvPicPr>
        <p:blipFill>
          <a:blip r:embed="rId11"/>
          <a:stretch>
            <a:fillRect/>
          </a:stretch>
        </p:blipFill>
        <p:spPr>
          <a:xfrm>
            <a:off x="6917436" y="3744468"/>
            <a:ext cx="210312" cy="210312"/>
          </a:xfrm>
          <a:prstGeom prst="rect">
            <a:avLst/>
          </a:prstGeom>
        </p:spPr>
      </p:pic>
      <p:sp>
        <p:nvSpPr>
          <p:cNvPr id="44" name="Text 33"/>
          <p:cNvSpPr txBox="1"/>
          <p:nvPr/>
        </p:nvSpPr>
        <p:spPr>
          <a:xfrm>
            <a:off x="7315200" y="3429000"/>
            <a:ext cx="1298448" cy="841248"/>
          </a:xfrm>
          <a:prstGeom prst="rect">
            <a:avLst/>
          </a:prstGeom>
          <a:noFill/>
          <a:ln/>
        </p:spPr>
        <p:txBody>
          <a:bodyPr wrap="square" lIns="0" tIns="0" rIns="0" bIns="0" rtlCol="0" anchor="ctr"/>
          <a:lstStyle/>
          <a:p>
            <a:pPr marL="0" indent="0">
              <a:buNone/>
            </a:pPr>
            <a:r>
              <a:rPr lang="en-US" sz="1100" b="1" dirty="0">
                <a:solidFill>
                  <a:schemeClr val="tx1"/>
                </a:solidFill>
              </a:rPr>
              <a:t>Length-of-stay patterns</a:t>
            </a:r>
            <a:endParaRPr lang="en-US" sz="1100" dirty="0"/>
          </a:p>
        </p:txBody>
      </p:sp>
      <p:sp>
        <p:nvSpPr>
          <p:cNvPr id="45" name="Text 34"/>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000" i="1" dirty="0">
                <a:solidFill>
                  <a:schemeClr val="accent5"/>
                </a:solidFill>
              </a:rPr>
              <a:t>Built with Pandas and NumPy as a reproducible analysis. Category-level values appear in the project notebook and dashboard.</a:t>
            </a:r>
            <a:endParaRPr lang="en-US" sz="1000" dirty="0"/>
          </a:p>
        </p:txBody>
      </p:sp>
      <p:sp>
        <p:nvSpPr>
          <p:cNvPr id="4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SQL ANALYSIS  ·  MYSQL</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Six query techniques answer the project questions</a:t>
            </a:r>
            <a:endParaRPr lang="en-US" sz="2600" dirty="0"/>
          </a:p>
        </p:txBody>
      </p:sp>
      <p:sp>
        <p:nvSpPr>
          <p:cNvPr id="4" name="card"/>
          <p:cNvSpPr/>
          <p:nvPr/>
        </p:nvSpPr>
        <p:spPr>
          <a:xfrm>
            <a:off x="457200" y="1234440"/>
            <a:ext cx="2651760" cy="1325880"/>
          </a:xfrm>
          <a:prstGeom prst="roundRect">
            <a:avLst>
              <a:gd name="adj" fmla="val 5517"/>
            </a:avLst>
          </a:prstGeom>
          <a:solidFill>
            <a:schemeClr val="bg2"/>
          </a:solidFill>
          <a:ln w="9525">
            <a:solidFill>
              <a:srgbClr val="D5E3EC"/>
            </a:solidFill>
            <a:prstDash val="solid"/>
          </a:ln>
        </p:spPr>
      </p:sp>
      <p:sp>
        <p:nvSpPr>
          <p:cNvPr id="5" name="iconbg"/>
          <p:cNvSpPr/>
          <p:nvPr/>
        </p:nvSpPr>
        <p:spPr>
          <a:xfrm>
            <a:off x="594360" y="1371600"/>
            <a:ext cx="457200" cy="457200"/>
          </a:xfrm>
          <a:prstGeom prst="ellipse">
            <a:avLst/>
          </a:prstGeom>
          <a:solidFill>
            <a:schemeClr val="accent1"/>
          </a:solidFill>
          <a:ln/>
        </p:spPr>
      </p:sp>
      <p:pic>
        <p:nvPicPr>
          <p:cNvPr id="6" name="Image 0" descr="Filtering"/>
          <p:cNvPicPr>
            <a:picLocks noChangeAspect="1"/>
          </p:cNvPicPr>
          <p:nvPr/>
        </p:nvPicPr>
        <p:blipFill>
          <a:blip r:embed="rId3"/>
          <a:stretch>
            <a:fillRect/>
          </a:stretch>
        </p:blipFill>
        <p:spPr>
          <a:xfrm>
            <a:off x="708660" y="1485900"/>
            <a:ext cx="228600" cy="228600"/>
          </a:xfrm>
          <a:prstGeom prst="rect">
            <a:avLst/>
          </a:prstGeom>
        </p:spPr>
      </p:pic>
      <p:sp>
        <p:nvSpPr>
          <p:cNvPr id="7" name="Text 4"/>
          <p:cNvSpPr txBox="1"/>
          <p:nvPr/>
        </p:nvSpPr>
        <p:spPr>
          <a:xfrm>
            <a:off x="1188720" y="137160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Filtering</a:t>
            </a:r>
            <a:endParaRPr lang="en-US" sz="1400" dirty="0"/>
          </a:p>
        </p:txBody>
      </p:sp>
      <p:sp>
        <p:nvSpPr>
          <p:cNvPr id="8" name="Text 5"/>
          <p:cNvSpPr txBox="1"/>
          <p:nvPr/>
        </p:nvSpPr>
        <p:spPr>
          <a:xfrm>
            <a:off x="640080" y="1947672"/>
            <a:ext cx="2331720" cy="548640"/>
          </a:xfrm>
          <a:prstGeom prst="rect">
            <a:avLst/>
          </a:prstGeom>
          <a:noFill/>
          <a:ln/>
        </p:spPr>
        <p:txBody>
          <a:bodyPr wrap="square" lIns="0" tIns="0" rIns="0" bIns="0" rtlCol="0" anchor="t"/>
          <a:lstStyle/>
          <a:p>
            <a:pPr marL="0" indent="0">
              <a:buNone/>
            </a:pPr>
            <a:r>
              <a:rPr lang="en-US" sz="1100" dirty="0">
                <a:solidFill>
                  <a:schemeClr val="tx1"/>
                </a:solidFill>
              </a:rPr>
              <a:t>Isolate valid records and the flagged nonpositive billing rows</a:t>
            </a:r>
            <a:endParaRPr lang="en-US" sz="1100" dirty="0"/>
          </a:p>
        </p:txBody>
      </p:sp>
      <p:sp>
        <p:nvSpPr>
          <p:cNvPr id="9" name="card"/>
          <p:cNvSpPr/>
          <p:nvPr/>
        </p:nvSpPr>
        <p:spPr>
          <a:xfrm>
            <a:off x="3246120" y="1234440"/>
            <a:ext cx="2651760" cy="1325880"/>
          </a:xfrm>
          <a:prstGeom prst="roundRect">
            <a:avLst>
              <a:gd name="adj" fmla="val 5517"/>
            </a:avLst>
          </a:prstGeom>
          <a:solidFill>
            <a:schemeClr val="bg2"/>
          </a:solidFill>
          <a:ln w="9525">
            <a:solidFill>
              <a:srgbClr val="D5E3EC"/>
            </a:solidFill>
            <a:prstDash val="solid"/>
          </a:ln>
        </p:spPr>
      </p:sp>
      <p:sp>
        <p:nvSpPr>
          <p:cNvPr id="10" name="iconbg"/>
          <p:cNvSpPr/>
          <p:nvPr/>
        </p:nvSpPr>
        <p:spPr>
          <a:xfrm>
            <a:off x="3383280" y="1371600"/>
            <a:ext cx="457200" cy="457200"/>
          </a:xfrm>
          <a:prstGeom prst="ellipse">
            <a:avLst/>
          </a:prstGeom>
          <a:solidFill>
            <a:schemeClr val="accent2"/>
          </a:solidFill>
          <a:ln/>
        </p:spPr>
      </p:sp>
      <p:pic>
        <p:nvPicPr>
          <p:cNvPr id="11" name="Image 1" descr="Aggregation"/>
          <p:cNvPicPr>
            <a:picLocks noChangeAspect="1"/>
          </p:cNvPicPr>
          <p:nvPr/>
        </p:nvPicPr>
        <p:blipFill>
          <a:blip r:embed="rId4"/>
          <a:stretch>
            <a:fillRect/>
          </a:stretch>
        </p:blipFill>
        <p:spPr>
          <a:xfrm>
            <a:off x="3497580" y="1485900"/>
            <a:ext cx="228600" cy="228600"/>
          </a:xfrm>
          <a:prstGeom prst="rect">
            <a:avLst/>
          </a:prstGeom>
        </p:spPr>
      </p:pic>
      <p:sp>
        <p:nvSpPr>
          <p:cNvPr id="12" name="Text 8"/>
          <p:cNvSpPr txBox="1"/>
          <p:nvPr/>
        </p:nvSpPr>
        <p:spPr>
          <a:xfrm>
            <a:off x="3977640" y="137160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Aggregation</a:t>
            </a:r>
            <a:endParaRPr lang="en-US" sz="1400" dirty="0"/>
          </a:p>
        </p:txBody>
      </p:sp>
      <p:sp>
        <p:nvSpPr>
          <p:cNvPr id="13" name="Text 9"/>
          <p:cNvSpPr txBox="1"/>
          <p:nvPr/>
        </p:nvSpPr>
        <p:spPr>
          <a:xfrm>
            <a:off x="3429000" y="1947672"/>
            <a:ext cx="2331720" cy="548640"/>
          </a:xfrm>
          <a:prstGeom prst="rect">
            <a:avLst/>
          </a:prstGeom>
          <a:noFill/>
          <a:ln/>
        </p:spPr>
        <p:txBody>
          <a:bodyPr wrap="square" lIns="0" tIns="0" rIns="0" bIns="0" rtlCol="0" anchor="t"/>
          <a:lstStyle/>
          <a:p>
            <a:pPr marL="0" indent="0">
              <a:buNone/>
            </a:pPr>
            <a:r>
              <a:rPr lang="en-US" sz="1100" dirty="0">
                <a:solidFill>
                  <a:schemeClr val="tx1"/>
                </a:solidFill>
              </a:rPr>
              <a:t>Admission counts plus billing totals and averages</a:t>
            </a:r>
            <a:endParaRPr lang="en-US" sz="1100" dirty="0"/>
          </a:p>
        </p:txBody>
      </p:sp>
      <p:sp>
        <p:nvSpPr>
          <p:cNvPr id="14" name="card"/>
          <p:cNvSpPr/>
          <p:nvPr/>
        </p:nvSpPr>
        <p:spPr>
          <a:xfrm>
            <a:off x="6035040" y="1234440"/>
            <a:ext cx="2651760" cy="1325880"/>
          </a:xfrm>
          <a:prstGeom prst="roundRect">
            <a:avLst>
              <a:gd name="adj" fmla="val 5517"/>
            </a:avLst>
          </a:prstGeom>
          <a:solidFill>
            <a:schemeClr val="bg2"/>
          </a:solidFill>
          <a:ln w="9525">
            <a:solidFill>
              <a:srgbClr val="D5E3EC"/>
            </a:solidFill>
            <a:prstDash val="solid"/>
          </a:ln>
        </p:spPr>
      </p:sp>
      <p:sp>
        <p:nvSpPr>
          <p:cNvPr id="15" name="iconbg"/>
          <p:cNvSpPr/>
          <p:nvPr/>
        </p:nvSpPr>
        <p:spPr>
          <a:xfrm>
            <a:off x="6172200" y="1371600"/>
            <a:ext cx="457200" cy="457200"/>
          </a:xfrm>
          <a:prstGeom prst="ellipse">
            <a:avLst/>
          </a:prstGeom>
          <a:solidFill>
            <a:schemeClr val="accent3"/>
          </a:solidFill>
          <a:ln/>
        </p:spPr>
      </p:sp>
      <p:pic>
        <p:nvPicPr>
          <p:cNvPr id="16" name="Image 2" descr="Grouping"/>
          <p:cNvPicPr>
            <a:picLocks noChangeAspect="1"/>
          </p:cNvPicPr>
          <p:nvPr/>
        </p:nvPicPr>
        <p:blipFill>
          <a:blip r:embed="rId5"/>
          <a:stretch>
            <a:fillRect/>
          </a:stretch>
        </p:blipFill>
        <p:spPr>
          <a:xfrm>
            <a:off x="6286500" y="1485900"/>
            <a:ext cx="228600" cy="228600"/>
          </a:xfrm>
          <a:prstGeom prst="rect">
            <a:avLst/>
          </a:prstGeom>
        </p:spPr>
      </p:pic>
      <p:sp>
        <p:nvSpPr>
          <p:cNvPr id="17" name="Text 12"/>
          <p:cNvSpPr txBox="1"/>
          <p:nvPr/>
        </p:nvSpPr>
        <p:spPr>
          <a:xfrm>
            <a:off x="6766560" y="137160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Grouping</a:t>
            </a:r>
            <a:endParaRPr lang="en-US" sz="1400" dirty="0"/>
          </a:p>
        </p:txBody>
      </p:sp>
      <p:sp>
        <p:nvSpPr>
          <p:cNvPr id="18" name="Text 13"/>
          <p:cNvSpPr txBox="1"/>
          <p:nvPr/>
        </p:nvSpPr>
        <p:spPr>
          <a:xfrm>
            <a:off x="6217920" y="1947672"/>
            <a:ext cx="2331720" cy="548640"/>
          </a:xfrm>
          <a:prstGeom prst="rect">
            <a:avLst/>
          </a:prstGeom>
          <a:noFill/>
          <a:ln/>
        </p:spPr>
        <p:txBody>
          <a:bodyPr wrap="square" lIns="0" tIns="0" rIns="0" bIns="0" rtlCol="0" anchor="t"/>
          <a:lstStyle/>
          <a:p>
            <a:pPr marL="0" indent="0">
              <a:buNone/>
            </a:pPr>
            <a:r>
              <a:rPr lang="en-US" sz="1100" dirty="0">
                <a:solidFill>
                  <a:schemeClr val="tx1"/>
                </a:solidFill>
              </a:rPr>
              <a:t>By medical condition, admission type and insurance provider</a:t>
            </a:r>
            <a:endParaRPr lang="en-US" sz="1100" dirty="0"/>
          </a:p>
        </p:txBody>
      </p:sp>
      <p:sp>
        <p:nvSpPr>
          <p:cNvPr id="19" name="card"/>
          <p:cNvSpPr/>
          <p:nvPr/>
        </p:nvSpPr>
        <p:spPr>
          <a:xfrm>
            <a:off x="457200" y="2697480"/>
            <a:ext cx="2651760" cy="1325880"/>
          </a:xfrm>
          <a:prstGeom prst="roundRect">
            <a:avLst>
              <a:gd name="adj" fmla="val 5517"/>
            </a:avLst>
          </a:prstGeom>
          <a:solidFill>
            <a:schemeClr val="bg2"/>
          </a:solidFill>
          <a:ln w="9525">
            <a:solidFill>
              <a:srgbClr val="D5E3EC"/>
            </a:solidFill>
            <a:prstDash val="solid"/>
          </a:ln>
        </p:spPr>
      </p:sp>
      <p:sp>
        <p:nvSpPr>
          <p:cNvPr id="20" name="iconbg"/>
          <p:cNvSpPr/>
          <p:nvPr/>
        </p:nvSpPr>
        <p:spPr>
          <a:xfrm>
            <a:off x="594360" y="2834640"/>
            <a:ext cx="457200" cy="457200"/>
          </a:xfrm>
          <a:prstGeom prst="ellipse">
            <a:avLst/>
          </a:prstGeom>
          <a:solidFill>
            <a:schemeClr val="accent1"/>
          </a:solidFill>
          <a:ln/>
        </p:spPr>
      </p:sp>
      <p:pic>
        <p:nvPicPr>
          <p:cNvPr id="21" name="Image 3" descr="CASE statements"/>
          <p:cNvPicPr>
            <a:picLocks noChangeAspect="1"/>
          </p:cNvPicPr>
          <p:nvPr/>
        </p:nvPicPr>
        <p:blipFill>
          <a:blip r:embed="rId6"/>
          <a:stretch>
            <a:fillRect/>
          </a:stretch>
        </p:blipFill>
        <p:spPr>
          <a:xfrm>
            <a:off x="708660" y="2948940"/>
            <a:ext cx="228600" cy="228600"/>
          </a:xfrm>
          <a:prstGeom prst="rect">
            <a:avLst/>
          </a:prstGeom>
        </p:spPr>
      </p:pic>
      <p:sp>
        <p:nvSpPr>
          <p:cNvPr id="22" name="Text 16"/>
          <p:cNvSpPr txBox="1"/>
          <p:nvPr/>
        </p:nvSpPr>
        <p:spPr>
          <a:xfrm>
            <a:off x="1188720" y="283464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CASE statements</a:t>
            </a:r>
            <a:endParaRPr lang="en-US" sz="1400" dirty="0"/>
          </a:p>
        </p:txBody>
      </p:sp>
      <p:sp>
        <p:nvSpPr>
          <p:cNvPr id="23" name="Text 17"/>
          <p:cNvSpPr txBox="1"/>
          <p:nvPr/>
        </p:nvSpPr>
        <p:spPr>
          <a:xfrm>
            <a:off x="640080" y="3410712"/>
            <a:ext cx="2331720" cy="548640"/>
          </a:xfrm>
          <a:prstGeom prst="rect">
            <a:avLst/>
          </a:prstGeom>
          <a:noFill/>
          <a:ln/>
        </p:spPr>
        <p:txBody>
          <a:bodyPr wrap="square" lIns="0" tIns="0" rIns="0" bIns="0" rtlCol="0" anchor="t"/>
          <a:lstStyle/>
          <a:p>
            <a:pPr marL="0" indent="0">
              <a:buNone/>
            </a:pPr>
            <a:r>
              <a:rPr lang="en-US" sz="1100" dirty="0">
                <a:solidFill>
                  <a:schemeClr val="tx1"/>
                </a:solidFill>
              </a:rPr>
              <a:t>Bucket values such as age groups into readable categories</a:t>
            </a:r>
            <a:endParaRPr lang="en-US" sz="1100" dirty="0"/>
          </a:p>
        </p:txBody>
      </p:sp>
      <p:sp>
        <p:nvSpPr>
          <p:cNvPr id="24" name="card"/>
          <p:cNvSpPr/>
          <p:nvPr/>
        </p:nvSpPr>
        <p:spPr>
          <a:xfrm>
            <a:off x="3246120" y="2697480"/>
            <a:ext cx="2651760" cy="1325880"/>
          </a:xfrm>
          <a:prstGeom prst="roundRect">
            <a:avLst>
              <a:gd name="adj" fmla="val 5517"/>
            </a:avLst>
          </a:prstGeom>
          <a:solidFill>
            <a:schemeClr val="bg2"/>
          </a:solidFill>
          <a:ln w="9525">
            <a:solidFill>
              <a:srgbClr val="D5E3EC"/>
            </a:solidFill>
            <a:prstDash val="solid"/>
          </a:ln>
        </p:spPr>
      </p:sp>
      <p:sp>
        <p:nvSpPr>
          <p:cNvPr id="25" name="iconbg"/>
          <p:cNvSpPr/>
          <p:nvPr/>
        </p:nvSpPr>
        <p:spPr>
          <a:xfrm>
            <a:off x="3383280" y="2834640"/>
            <a:ext cx="457200" cy="457200"/>
          </a:xfrm>
          <a:prstGeom prst="ellipse">
            <a:avLst/>
          </a:prstGeom>
          <a:solidFill>
            <a:schemeClr val="accent2"/>
          </a:solidFill>
          <a:ln/>
        </p:spPr>
      </p:sp>
      <p:pic>
        <p:nvPicPr>
          <p:cNvPr id="26" name="Image 4" descr="Date calculations"/>
          <p:cNvPicPr>
            <a:picLocks noChangeAspect="1"/>
          </p:cNvPicPr>
          <p:nvPr/>
        </p:nvPicPr>
        <p:blipFill>
          <a:blip r:embed="rId7"/>
          <a:stretch>
            <a:fillRect/>
          </a:stretch>
        </p:blipFill>
        <p:spPr>
          <a:xfrm>
            <a:off x="3497580" y="2948940"/>
            <a:ext cx="228600" cy="228600"/>
          </a:xfrm>
          <a:prstGeom prst="rect">
            <a:avLst/>
          </a:prstGeom>
        </p:spPr>
      </p:pic>
      <p:sp>
        <p:nvSpPr>
          <p:cNvPr id="27" name="Text 20"/>
          <p:cNvSpPr txBox="1"/>
          <p:nvPr/>
        </p:nvSpPr>
        <p:spPr>
          <a:xfrm>
            <a:off x="3977640" y="283464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Date calculations</a:t>
            </a:r>
            <a:endParaRPr lang="en-US" sz="1400" dirty="0"/>
          </a:p>
        </p:txBody>
      </p:sp>
      <p:sp>
        <p:nvSpPr>
          <p:cNvPr id="28" name="Text 21"/>
          <p:cNvSpPr txBox="1"/>
          <p:nvPr/>
        </p:nvSpPr>
        <p:spPr>
          <a:xfrm>
            <a:off x="3429000" y="3410712"/>
            <a:ext cx="2331720" cy="548640"/>
          </a:xfrm>
          <a:prstGeom prst="rect">
            <a:avLst/>
          </a:prstGeom>
          <a:noFill/>
          <a:ln/>
        </p:spPr>
        <p:txBody>
          <a:bodyPr wrap="square" lIns="0" tIns="0" rIns="0" bIns="0" rtlCol="0" anchor="t"/>
          <a:lstStyle/>
          <a:p>
            <a:pPr marL="0" indent="0">
              <a:buNone/>
            </a:pPr>
            <a:r>
              <a:rPr lang="en-US" sz="1100" dirty="0">
                <a:solidFill>
                  <a:schemeClr val="tx1"/>
                </a:solidFill>
              </a:rPr>
              <a:t>Length of stay from admission and discharge dates</a:t>
            </a:r>
            <a:endParaRPr lang="en-US" sz="1100" dirty="0"/>
          </a:p>
        </p:txBody>
      </p:sp>
      <p:sp>
        <p:nvSpPr>
          <p:cNvPr id="29" name="card"/>
          <p:cNvSpPr/>
          <p:nvPr/>
        </p:nvSpPr>
        <p:spPr>
          <a:xfrm>
            <a:off x="6035040" y="2697480"/>
            <a:ext cx="2651760" cy="1325880"/>
          </a:xfrm>
          <a:prstGeom prst="roundRect">
            <a:avLst>
              <a:gd name="adj" fmla="val 5517"/>
            </a:avLst>
          </a:prstGeom>
          <a:solidFill>
            <a:schemeClr val="bg2"/>
          </a:solidFill>
          <a:ln w="9525">
            <a:solidFill>
              <a:srgbClr val="D5E3EC"/>
            </a:solidFill>
            <a:prstDash val="solid"/>
          </a:ln>
        </p:spPr>
      </p:sp>
      <p:sp>
        <p:nvSpPr>
          <p:cNvPr id="30" name="iconbg"/>
          <p:cNvSpPr/>
          <p:nvPr/>
        </p:nvSpPr>
        <p:spPr>
          <a:xfrm>
            <a:off x="6172200" y="2834640"/>
            <a:ext cx="457200" cy="457200"/>
          </a:xfrm>
          <a:prstGeom prst="ellipse">
            <a:avLst/>
          </a:prstGeom>
          <a:solidFill>
            <a:schemeClr val="accent3"/>
          </a:solidFill>
          <a:ln/>
        </p:spPr>
      </p:sp>
      <p:pic>
        <p:nvPicPr>
          <p:cNvPr id="31" name="Image 5" descr="Ranking"/>
          <p:cNvPicPr>
            <a:picLocks noChangeAspect="1"/>
          </p:cNvPicPr>
          <p:nvPr/>
        </p:nvPicPr>
        <p:blipFill>
          <a:blip r:embed="rId8"/>
          <a:stretch>
            <a:fillRect/>
          </a:stretch>
        </p:blipFill>
        <p:spPr>
          <a:xfrm>
            <a:off x="6286500" y="2948940"/>
            <a:ext cx="228600" cy="228600"/>
          </a:xfrm>
          <a:prstGeom prst="rect">
            <a:avLst/>
          </a:prstGeom>
        </p:spPr>
      </p:pic>
      <p:sp>
        <p:nvSpPr>
          <p:cNvPr id="32" name="Text 24"/>
          <p:cNvSpPr txBox="1"/>
          <p:nvPr/>
        </p:nvSpPr>
        <p:spPr>
          <a:xfrm>
            <a:off x="6766560" y="2834640"/>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Ranking</a:t>
            </a:r>
            <a:endParaRPr lang="en-US" sz="1400" dirty="0"/>
          </a:p>
        </p:txBody>
      </p:sp>
      <p:sp>
        <p:nvSpPr>
          <p:cNvPr id="33" name="Text 25"/>
          <p:cNvSpPr txBox="1"/>
          <p:nvPr/>
        </p:nvSpPr>
        <p:spPr>
          <a:xfrm>
            <a:off x="6217920" y="3410712"/>
            <a:ext cx="2331720" cy="548640"/>
          </a:xfrm>
          <a:prstGeom prst="rect">
            <a:avLst/>
          </a:prstGeom>
          <a:noFill/>
          <a:ln/>
        </p:spPr>
        <p:txBody>
          <a:bodyPr wrap="square" lIns="0" tIns="0" rIns="0" bIns="0" rtlCol="0" anchor="t"/>
          <a:lstStyle/>
          <a:p>
            <a:pPr marL="0" indent="0">
              <a:buNone/>
            </a:pPr>
            <a:r>
              <a:rPr lang="en-US" sz="1100" dirty="0">
                <a:solidFill>
                  <a:schemeClr val="tx1"/>
                </a:solidFill>
              </a:rPr>
              <a:t>Order categories and providers by volume or billing</a:t>
            </a:r>
            <a:endParaRPr lang="en-US" sz="1100" dirty="0"/>
          </a:p>
        </p:txBody>
      </p:sp>
      <p:sp>
        <p:nvSpPr>
          <p:cNvPr id="34" name="Shape 26"/>
          <p:cNvSpPr/>
          <p:nvPr/>
        </p:nvSpPr>
        <p:spPr>
          <a:xfrm>
            <a:off x="457200" y="4206240"/>
            <a:ext cx="1920240" cy="411480"/>
          </a:xfrm>
          <a:prstGeom prst="roundRect">
            <a:avLst>
              <a:gd name="adj" fmla="val 48889"/>
            </a:avLst>
          </a:prstGeom>
          <a:solidFill>
            <a:schemeClr val="accent1"/>
          </a:solidFill>
          <a:ln/>
        </p:spPr>
      </p:sp>
      <p:sp>
        <p:nvSpPr>
          <p:cNvPr id="35" name="Text 27"/>
          <p:cNvSpPr txBox="1"/>
          <p:nvPr/>
        </p:nvSpPr>
        <p:spPr>
          <a:xfrm>
            <a:off x="502920" y="4206240"/>
            <a:ext cx="1828800" cy="411480"/>
          </a:xfrm>
          <a:prstGeom prst="rect">
            <a:avLst/>
          </a:prstGeom>
          <a:noFill/>
          <a:ln/>
        </p:spPr>
        <p:txBody>
          <a:bodyPr wrap="square" lIns="0" tIns="0" rIns="0" bIns="0" rtlCol="0" anchor="ctr"/>
          <a:lstStyle/>
          <a:p>
            <a:pPr marL="0" indent="0" algn="ctr">
              <a:buNone/>
            </a:pPr>
            <a:r>
              <a:rPr lang="en-US" sz="1000" b="1" dirty="0">
                <a:solidFill>
                  <a:schemeClr val="bg1"/>
                </a:solidFill>
              </a:rPr>
              <a:t>Cleaned data</a:t>
            </a:r>
            <a:endParaRPr lang="en-US" sz="1000" dirty="0"/>
          </a:p>
        </p:txBody>
      </p:sp>
      <p:sp>
        <p:nvSpPr>
          <p:cNvPr id="36" name="Text 28"/>
          <p:cNvSpPr txBox="1"/>
          <p:nvPr/>
        </p:nvSpPr>
        <p:spPr>
          <a:xfrm>
            <a:off x="2377440" y="4187952"/>
            <a:ext cx="182880" cy="411480"/>
          </a:xfrm>
          <a:prstGeom prst="rect">
            <a:avLst/>
          </a:prstGeom>
          <a:noFill/>
          <a:ln/>
        </p:spPr>
        <p:txBody>
          <a:bodyPr wrap="square" lIns="0" tIns="0" rIns="0" bIns="0" rtlCol="0" anchor="ctr"/>
          <a:lstStyle/>
          <a:p>
            <a:pPr marL="0" indent="0" algn="ctr">
              <a:buNone/>
            </a:pPr>
            <a:r>
              <a:rPr lang="en-US" sz="1800" b="1" dirty="0">
                <a:solidFill>
                  <a:schemeClr val="tx2"/>
                </a:solidFill>
              </a:rPr>
              <a:t>›</a:t>
            </a:r>
            <a:endParaRPr lang="en-US" sz="1800" dirty="0"/>
          </a:p>
        </p:txBody>
      </p:sp>
      <p:sp>
        <p:nvSpPr>
          <p:cNvPr id="37" name="Shape 29"/>
          <p:cNvSpPr/>
          <p:nvPr/>
        </p:nvSpPr>
        <p:spPr>
          <a:xfrm>
            <a:off x="2560320" y="4206240"/>
            <a:ext cx="1920240" cy="411480"/>
          </a:xfrm>
          <a:prstGeom prst="roundRect">
            <a:avLst>
              <a:gd name="adj" fmla="val 48889"/>
            </a:avLst>
          </a:prstGeom>
          <a:solidFill>
            <a:schemeClr val="accent1"/>
          </a:solidFill>
          <a:ln/>
        </p:spPr>
      </p:sp>
      <p:sp>
        <p:nvSpPr>
          <p:cNvPr id="38" name="Text 30"/>
          <p:cNvSpPr txBox="1"/>
          <p:nvPr/>
        </p:nvSpPr>
        <p:spPr>
          <a:xfrm>
            <a:off x="2606040" y="4206240"/>
            <a:ext cx="1828800" cy="411480"/>
          </a:xfrm>
          <a:prstGeom prst="rect">
            <a:avLst/>
          </a:prstGeom>
          <a:noFill/>
          <a:ln/>
        </p:spPr>
        <p:txBody>
          <a:bodyPr wrap="square" lIns="0" tIns="0" rIns="0" bIns="0" rtlCol="0" anchor="ctr"/>
          <a:lstStyle/>
          <a:p>
            <a:pPr marL="0" indent="0" algn="ctr">
              <a:buNone/>
            </a:pPr>
            <a:r>
              <a:rPr lang="en-US" sz="1000" b="1" dirty="0">
                <a:solidFill>
                  <a:schemeClr val="bg1"/>
                </a:solidFill>
              </a:rPr>
              <a:t>MySQL load</a:t>
            </a:r>
            <a:endParaRPr lang="en-US" sz="1000" dirty="0"/>
          </a:p>
        </p:txBody>
      </p:sp>
      <p:sp>
        <p:nvSpPr>
          <p:cNvPr id="39" name="Text 31"/>
          <p:cNvSpPr txBox="1"/>
          <p:nvPr/>
        </p:nvSpPr>
        <p:spPr>
          <a:xfrm>
            <a:off x="4480560" y="4187952"/>
            <a:ext cx="182880" cy="411480"/>
          </a:xfrm>
          <a:prstGeom prst="rect">
            <a:avLst/>
          </a:prstGeom>
          <a:noFill/>
          <a:ln/>
        </p:spPr>
        <p:txBody>
          <a:bodyPr wrap="square" lIns="0" tIns="0" rIns="0" bIns="0" rtlCol="0" anchor="ctr"/>
          <a:lstStyle/>
          <a:p>
            <a:pPr marL="0" indent="0" algn="ctr">
              <a:buNone/>
            </a:pPr>
            <a:r>
              <a:rPr lang="en-US" sz="1800" b="1" dirty="0">
                <a:solidFill>
                  <a:schemeClr val="tx2"/>
                </a:solidFill>
              </a:rPr>
              <a:t>›</a:t>
            </a:r>
            <a:endParaRPr lang="en-US" sz="1800" dirty="0"/>
          </a:p>
        </p:txBody>
      </p:sp>
      <p:sp>
        <p:nvSpPr>
          <p:cNvPr id="40" name="Shape 32"/>
          <p:cNvSpPr/>
          <p:nvPr/>
        </p:nvSpPr>
        <p:spPr>
          <a:xfrm>
            <a:off x="4663440" y="4206240"/>
            <a:ext cx="1920240" cy="411480"/>
          </a:xfrm>
          <a:prstGeom prst="roundRect">
            <a:avLst>
              <a:gd name="adj" fmla="val 48889"/>
            </a:avLst>
          </a:prstGeom>
          <a:solidFill>
            <a:schemeClr val="accent1"/>
          </a:solidFill>
          <a:ln/>
        </p:spPr>
      </p:sp>
      <p:sp>
        <p:nvSpPr>
          <p:cNvPr id="41" name="Text 33"/>
          <p:cNvSpPr txBox="1"/>
          <p:nvPr/>
        </p:nvSpPr>
        <p:spPr>
          <a:xfrm>
            <a:off x="4709160" y="4206240"/>
            <a:ext cx="1828800" cy="411480"/>
          </a:xfrm>
          <a:prstGeom prst="rect">
            <a:avLst/>
          </a:prstGeom>
          <a:noFill/>
          <a:ln/>
        </p:spPr>
        <p:txBody>
          <a:bodyPr wrap="square" lIns="0" tIns="0" rIns="0" bIns="0" rtlCol="0" anchor="ctr"/>
          <a:lstStyle/>
          <a:p>
            <a:pPr marL="0" indent="0" algn="ctr">
              <a:buNone/>
            </a:pPr>
            <a:r>
              <a:rPr lang="en-US" sz="1000" b="1" dirty="0">
                <a:solidFill>
                  <a:schemeClr val="bg1"/>
                </a:solidFill>
              </a:rPr>
              <a:t>SQL query file</a:t>
            </a:r>
            <a:endParaRPr lang="en-US" sz="1000" dirty="0"/>
          </a:p>
        </p:txBody>
      </p:sp>
      <p:sp>
        <p:nvSpPr>
          <p:cNvPr id="42" name="Text 34"/>
          <p:cNvSpPr txBox="1"/>
          <p:nvPr/>
        </p:nvSpPr>
        <p:spPr>
          <a:xfrm>
            <a:off x="6583680" y="4187952"/>
            <a:ext cx="182880" cy="411480"/>
          </a:xfrm>
          <a:prstGeom prst="rect">
            <a:avLst/>
          </a:prstGeom>
          <a:noFill/>
          <a:ln/>
        </p:spPr>
        <p:txBody>
          <a:bodyPr wrap="square" lIns="0" tIns="0" rIns="0" bIns="0" rtlCol="0" anchor="ctr"/>
          <a:lstStyle/>
          <a:p>
            <a:pPr marL="0" indent="0" algn="ctr">
              <a:buNone/>
            </a:pPr>
            <a:r>
              <a:rPr lang="en-US" sz="1800" b="1" dirty="0">
                <a:solidFill>
                  <a:schemeClr val="tx2"/>
                </a:solidFill>
              </a:rPr>
              <a:t>›</a:t>
            </a:r>
            <a:endParaRPr lang="en-US" sz="1800" dirty="0"/>
          </a:p>
        </p:txBody>
      </p:sp>
      <p:sp>
        <p:nvSpPr>
          <p:cNvPr id="43" name="Shape 35"/>
          <p:cNvSpPr/>
          <p:nvPr/>
        </p:nvSpPr>
        <p:spPr>
          <a:xfrm>
            <a:off x="6766560" y="4206240"/>
            <a:ext cx="1920240" cy="411480"/>
          </a:xfrm>
          <a:prstGeom prst="roundRect">
            <a:avLst>
              <a:gd name="adj" fmla="val 48889"/>
            </a:avLst>
          </a:prstGeom>
          <a:solidFill>
            <a:schemeClr val="accent2"/>
          </a:solidFill>
          <a:ln/>
        </p:spPr>
      </p:sp>
      <p:sp>
        <p:nvSpPr>
          <p:cNvPr id="44" name="Text 36"/>
          <p:cNvSpPr txBox="1"/>
          <p:nvPr/>
        </p:nvSpPr>
        <p:spPr>
          <a:xfrm>
            <a:off x="6812280" y="4206240"/>
            <a:ext cx="1828800" cy="411480"/>
          </a:xfrm>
          <a:prstGeom prst="rect">
            <a:avLst/>
          </a:prstGeom>
          <a:noFill/>
          <a:ln/>
        </p:spPr>
        <p:txBody>
          <a:bodyPr wrap="square" lIns="0" tIns="0" rIns="0" bIns="0" rtlCol="0" anchor="ctr"/>
          <a:lstStyle/>
          <a:p>
            <a:pPr marL="0" indent="0" algn="ctr">
              <a:buNone/>
            </a:pPr>
            <a:r>
              <a:rPr lang="en-US" sz="1000" b="1" dirty="0">
                <a:solidFill>
                  <a:schemeClr val="bg1"/>
                </a:solidFill>
              </a:rPr>
              <a:t>Cross-check results</a:t>
            </a:r>
            <a:endParaRPr lang="en-US" sz="1000" dirty="0"/>
          </a:p>
        </p:txBody>
      </p:sp>
      <p:sp>
        <p:nvSpPr>
          <p:cNvPr id="4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POWER BI DASHBOARD  ·  OVERVIEW</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One interactive view of admissions, billing and stay</a:t>
            </a:r>
            <a:endParaRPr lang="en-US" sz="2600" dirty="0"/>
          </a:p>
        </p:txBody>
      </p:sp>
      <p:sp>
        <p:nvSpPr>
          <p:cNvPr id="7" name="card"/>
          <p:cNvSpPr/>
          <p:nvPr/>
        </p:nvSpPr>
        <p:spPr>
          <a:xfrm>
            <a:off x="5577840" y="1234440"/>
            <a:ext cx="3108960" cy="1005840"/>
          </a:xfrm>
          <a:prstGeom prst="roundRect">
            <a:avLst>
              <a:gd name="adj" fmla="val 7273"/>
            </a:avLst>
          </a:prstGeom>
          <a:solidFill>
            <a:schemeClr val="bg2"/>
          </a:solidFill>
          <a:ln w="9525">
            <a:solidFill>
              <a:srgbClr val="D5E3EC"/>
            </a:solidFill>
            <a:prstDash val="solid"/>
          </a:ln>
        </p:spPr>
      </p:sp>
      <p:sp>
        <p:nvSpPr>
          <p:cNvPr id="8" name="Shape 5"/>
          <p:cNvSpPr/>
          <p:nvPr/>
        </p:nvSpPr>
        <p:spPr>
          <a:xfrm>
            <a:off x="5586984" y="1325880"/>
            <a:ext cx="64008" cy="822960"/>
          </a:xfrm>
          <a:prstGeom prst="rect">
            <a:avLst/>
          </a:prstGeom>
          <a:solidFill>
            <a:schemeClr val="accent1"/>
          </a:solidFill>
          <a:ln/>
        </p:spPr>
      </p:sp>
      <p:sp>
        <p:nvSpPr>
          <p:cNvPr id="9" name="Text 6"/>
          <p:cNvSpPr txBox="1"/>
          <p:nvPr/>
        </p:nvSpPr>
        <p:spPr>
          <a:xfrm>
            <a:off x="5760720" y="1307592"/>
            <a:ext cx="2834640" cy="256032"/>
          </a:xfrm>
          <a:prstGeom prst="rect">
            <a:avLst/>
          </a:prstGeom>
          <a:noFill/>
          <a:ln/>
        </p:spPr>
        <p:txBody>
          <a:bodyPr wrap="square" lIns="0" tIns="0" rIns="0" bIns="0" rtlCol="0" anchor="t"/>
          <a:lstStyle/>
          <a:p>
            <a:pPr marL="0" indent="0">
              <a:buNone/>
            </a:pPr>
            <a:r>
              <a:rPr lang="en-US" sz="1300" b="1" dirty="0">
                <a:solidFill>
                  <a:schemeClr val="tx2"/>
                </a:solidFill>
              </a:rPr>
              <a:t>Purpose</a:t>
            </a:r>
            <a:endParaRPr lang="en-US" sz="1300" dirty="0"/>
          </a:p>
        </p:txBody>
      </p:sp>
      <p:sp>
        <p:nvSpPr>
          <p:cNvPr id="10" name="Text 7"/>
          <p:cNvSpPr txBox="1"/>
          <p:nvPr/>
        </p:nvSpPr>
        <p:spPr>
          <a:xfrm>
            <a:off x="5760720" y="1600200"/>
            <a:ext cx="2834640" cy="621792"/>
          </a:xfrm>
          <a:prstGeom prst="rect">
            <a:avLst/>
          </a:prstGeom>
          <a:noFill/>
          <a:ln/>
        </p:spPr>
        <p:txBody>
          <a:bodyPr wrap="square" lIns="0" tIns="0" rIns="0" bIns="0" rtlCol="0" anchor="t"/>
          <a:lstStyle/>
          <a:p>
            <a:pPr marL="0" indent="0">
              <a:buNone/>
            </a:pPr>
            <a:r>
              <a:rPr lang="en-US" sz="1050" dirty="0">
                <a:solidFill>
                  <a:schemeClr val="tx1"/>
                </a:solidFill>
              </a:rPr>
              <a:t>A concise, interactive dashboard that lets users explore the cleaned admissions data without writing code.</a:t>
            </a:r>
            <a:endParaRPr lang="en-US" sz="1050" dirty="0"/>
          </a:p>
        </p:txBody>
      </p:sp>
      <p:sp>
        <p:nvSpPr>
          <p:cNvPr id="11" name="card"/>
          <p:cNvSpPr/>
          <p:nvPr/>
        </p:nvSpPr>
        <p:spPr>
          <a:xfrm>
            <a:off x="5577840" y="2331720"/>
            <a:ext cx="3108960" cy="1005840"/>
          </a:xfrm>
          <a:prstGeom prst="roundRect">
            <a:avLst>
              <a:gd name="adj" fmla="val 7273"/>
            </a:avLst>
          </a:prstGeom>
          <a:solidFill>
            <a:schemeClr val="bg2"/>
          </a:solidFill>
          <a:ln w="9525">
            <a:solidFill>
              <a:srgbClr val="D5E3EC"/>
            </a:solidFill>
            <a:prstDash val="solid"/>
          </a:ln>
        </p:spPr>
      </p:sp>
      <p:sp>
        <p:nvSpPr>
          <p:cNvPr id="12" name="Shape 9"/>
          <p:cNvSpPr/>
          <p:nvPr/>
        </p:nvSpPr>
        <p:spPr>
          <a:xfrm>
            <a:off x="5586984" y="2423160"/>
            <a:ext cx="64008" cy="822960"/>
          </a:xfrm>
          <a:prstGeom prst="rect">
            <a:avLst/>
          </a:prstGeom>
          <a:solidFill>
            <a:schemeClr val="accent2"/>
          </a:solidFill>
          <a:ln/>
        </p:spPr>
      </p:sp>
      <p:sp>
        <p:nvSpPr>
          <p:cNvPr id="13" name="Text 10"/>
          <p:cNvSpPr txBox="1"/>
          <p:nvPr/>
        </p:nvSpPr>
        <p:spPr>
          <a:xfrm>
            <a:off x="5760720" y="2404872"/>
            <a:ext cx="2834640" cy="256032"/>
          </a:xfrm>
          <a:prstGeom prst="rect">
            <a:avLst/>
          </a:prstGeom>
          <a:noFill/>
          <a:ln/>
        </p:spPr>
        <p:txBody>
          <a:bodyPr wrap="square" lIns="0" tIns="0" rIns="0" bIns="0" rtlCol="0" anchor="t"/>
          <a:lstStyle/>
          <a:p>
            <a:pPr marL="0" indent="0">
              <a:buNone/>
            </a:pPr>
            <a:r>
              <a:rPr lang="en-US" sz="1300" b="1" dirty="0">
                <a:solidFill>
                  <a:schemeClr val="tx2"/>
                </a:solidFill>
              </a:rPr>
              <a:t>Headline views</a:t>
            </a:r>
            <a:endParaRPr lang="en-US" sz="1300" dirty="0"/>
          </a:p>
        </p:txBody>
      </p:sp>
      <p:sp>
        <p:nvSpPr>
          <p:cNvPr id="14" name="Text 11"/>
          <p:cNvSpPr txBox="1"/>
          <p:nvPr/>
        </p:nvSpPr>
        <p:spPr>
          <a:xfrm>
            <a:off x="5760720" y="2697480"/>
            <a:ext cx="2834640" cy="621792"/>
          </a:xfrm>
          <a:prstGeom prst="rect">
            <a:avLst/>
          </a:prstGeom>
          <a:noFill/>
          <a:ln/>
        </p:spPr>
        <p:txBody>
          <a:bodyPr wrap="square" lIns="0" tIns="0" rIns="0" bIns="0" rtlCol="0" anchor="t"/>
          <a:lstStyle/>
          <a:p>
            <a:pPr marL="0" indent="0">
              <a:buNone/>
            </a:pPr>
            <a:r>
              <a:rPr lang="en-US" sz="1050" dirty="0">
                <a:solidFill>
                  <a:schemeClr val="tx1"/>
                </a:solidFill>
              </a:rPr>
              <a:t>Key admission counts, billing summaries and length-of-stay patterns.</a:t>
            </a:r>
            <a:endParaRPr lang="en-US" sz="1050" dirty="0"/>
          </a:p>
        </p:txBody>
      </p:sp>
      <p:sp>
        <p:nvSpPr>
          <p:cNvPr id="15" name="card"/>
          <p:cNvSpPr/>
          <p:nvPr/>
        </p:nvSpPr>
        <p:spPr>
          <a:xfrm>
            <a:off x="5577840" y="3429000"/>
            <a:ext cx="3108960" cy="1005840"/>
          </a:xfrm>
          <a:prstGeom prst="roundRect">
            <a:avLst>
              <a:gd name="adj" fmla="val 7273"/>
            </a:avLst>
          </a:prstGeom>
          <a:solidFill>
            <a:schemeClr val="bg2"/>
          </a:solidFill>
          <a:ln w="9525">
            <a:solidFill>
              <a:srgbClr val="D5E3EC"/>
            </a:solidFill>
            <a:prstDash val="solid"/>
          </a:ln>
        </p:spPr>
      </p:sp>
      <p:sp>
        <p:nvSpPr>
          <p:cNvPr id="16" name="Shape 13"/>
          <p:cNvSpPr/>
          <p:nvPr/>
        </p:nvSpPr>
        <p:spPr>
          <a:xfrm>
            <a:off x="5586984" y="3520440"/>
            <a:ext cx="64008" cy="822960"/>
          </a:xfrm>
          <a:prstGeom prst="rect">
            <a:avLst/>
          </a:prstGeom>
          <a:solidFill>
            <a:schemeClr val="accent3"/>
          </a:solidFill>
          <a:ln/>
        </p:spPr>
      </p:sp>
      <p:sp>
        <p:nvSpPr>
          <p:cNvPr id="17" name="Text 14"/>
          <p:cNvSpPr txBox="1"/>
          <p:nvPr/>
        </p:nvSpPr>
        <p:spPr>
          <a:xfrm>
            <a:off x="5760720" y="3502152"/>
            <a:ext cx="2834640" cy="256032"/>
          </a:xfrm>
          <a:prstGeom prst="rect">
            <a:avLst/>
          </a:prstGeom>
          <a:noFill/>
          <a:ln/>
        </p:spPr>
        <p:txBody>
          <a:bodyPr wrap="square" lIns="0" tIns="0" rIns="0" bIns="0" rtlCol="0" anchor="t"/>
          <a:lstStyle/>
          <a:p>
            <a:pPr marL="0" indent="0">
              <a:buNone/>
            </a:pPr>
            <a:r>
              <a:rPr lang="en-US" sz="1300" b="1" dirty="0">
                <a:solidFill>
                  <a:schemeClr val="tx2"/>
                </a:solidFill>
              </a:rPr>
              <a:t>Breakdowns</a:t>
            </a:r>
            <a:endParaRPr lang="en-US" sz="1300" dirty="0"/>
          </a:p>
        </p:txBody>
      </p:sp>
      <p:sp>
        <p:nvSpPr>
          <p:cNvPr id="18" name="Text 15"/>
          <p:cNvSpPr txBox="1"/>
          <p:nvPr/>
        </p:nvSpPr>
        <p:spPr>
          <a:xfrm>
            <a:off x="5760720" y="3794760"/>
            <a:ext cx="2834640" cy="621792"/>
          </a:xfrm>
          <a:prstGeom prst="rect">
            <a:avLst/>
          </a:prstGeom>
          <a:noFill/>
          <a:ln/>
        </p:spPr>
        <p:txBody>
          <a:bodyPr wrap="square" lIns="0" tIns="0" rIns="0" bIns="0" rtlCol="0" anchor="t"/>
          <a:lstStyle/>
          <a:p>
            <a:pPr marL="0" indent="0">
              <a:buNone/>
            </a:pPr>
            <a:r>
              <a:rPr lang="en-US" sz="1050" dirty="0">
                <a:solidFill>
                  <a:schemeClr val="tx1"/>
                </a:solidFill>
              </a:rPr>
              <a:t>By medical condition, admission type and insurance provider.</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pic>
        <p:nvPicPr>
          <p:cNvPr id="20" name="Picture 19">
            <a:extLst>
              <a:ext uri="{FF2B5EF4-FFF2-40B4-BE49-F238E27FC236}">
                <a16:creationId xmlns:a16="http://schemas.microsoft.com/office/drawing/2014/main" id="{A12ED654-AC00-4F9D-2649-15A1F02514C4}"/>
              </a:ext>
            </a:extLst>
          </p:cNvPr>
          <p:cNvPicPr>
            <a:picLocks noChangeAspect="1"/>
          </p:cNvPicPr>
          <p:nvPr/>
        </p:nvPicPr>
        <p:blipFill>
          <a:blip r:embed="rId3"/>
          <a:stretch>
            <a:fillRect/>
          </a:stretch>
        </p:blipFill>
        <p:spPr>
          <a:xfrm>
            <a:off x="2800577" y="1224279"/>
            <a:ext cx="2655577" cy="3200401"/>
          </a:xfrm>
          <a:prstGeom prst="rect">
            <a:avLst/>
          </a:prstGeom>
        </p:spPr>
      </p:pic>
      <p:pic>
        <p:nvPicPr>
          <p:cNvPr id="22" name="Picture 21">
            <a:extLst>
              <a:ext uri="{FF2B5EF4-FFF2-40B4-BE49-F238E27FC236}">
                <a16:creationId xmlns:a16="http://schemas.microsoft.com/office/drawing/2014/main" id="{0D8E7BF4-A9A3-0795-CD2F-56A524A84034}"/>
              </a:ext>
            </a:extLst>
          </p:cNvPr>
          <p:cNvPicPr>
            <a:picLocks noChangeAspect="1"/>
          </p:cNvPicPr>
          <p:nvPr/>
        </p:nvPicPr>
        <p:blipFill>
          <a:blip r:embed="rId4"/>
          <a:stretch>
            <a:fillRect/>
          </a:stretch>
        </p:blipFill>
        <p:spPr>
          <a:xfrm>
            <a:off x="340085" y="1216153"/>
            <a:ext cx="2460491" cy="320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POWER BI DASHBOARD  ·  ANALYTICAL SECTIONS</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Three breakdowns drive the dashboard's story</a:t>
            </a:r>
            <a:endParaRPr lang="en-US" sz="2600" dirty="0"/>
          </a:p>
        </p:txBody>
      </p:sp>
      <p:grpSp>
        <p:nvGrpSpPr>
          <p:cNvPr id="32" name="Group 31">
            <a:extLst>
              <a:ext uri="{FF2B5EF4-FFF2-40B4-BE49-F238E27FC236}">
                <a16:creationId xmlns:a16="http://schemas.microsoft.com/office/drawing/2014/main" id="{1981895E-9D49-0536-4B29-7BC65E602F3C}"/>
              </a:ext>
            </a:extLst>
          </p:cNvPr>
          <p:cNvGrpSpPr/>
          <p:nvPr/>
        </p:nvGrpSpPr>
        <p:grpSpPr>
          <a:xfrm>
            <a:off x="457200" y="1715414"/>
            <a:ext cx="2532888" cy="1688967"/>
            <a:chOff x="457200" y="2697480"/>
            <a:chExt cx="2651760" cy="1371600"/>
          </a:xfrm>
        </p:grpSpPr>
        <p:sp>
          <p:nvSpPr>
            <p:cNvPr id="7" name="card"/>
            <p:cNvSpPr/>
            <p:nvPr/>
          </p:nvSpPr>
          <p:spPr>
            <a:xfrm>
              <a:off x="457200" y="2697480"/>
              <a:ext cx="2651760" cy="1371600"/>
            </a:xfrm>
            <a:prstGeom prst="roundRect">
              <a:avLst>
                <a:gd name="adj" fmla="val 5333"/>
              </a:avLst>
            </a:prstGeom>
            <a:solidFill>
              <a:schemeClr val="bg2"/>
            </a:solidFill>
            <a:ln w="9525">
              <a:solidFill>
                <a:srgbClr val="D5E3EC"/>
              </a:solidFill>
              <a:prstDash val="solid"/>
            </a:ln>
          </p:spPr>
        </p:sp>
        <p:sp>
          <p:nvSpPr>
            <p:cNvPr id="8" name="iconbg"/>
            <p:cNvSpPr/>
            <p:nvPr/>
          </p:nvSpPr>
          <p:spPr>
            <a:xfrm>
              <a:off x="566928" y="2807208"/>
              <a:ext cx="384048" cy="384048"/>
            </a:xfrm>
            <a:prstGeom prst="ellipse">
              <a:avLst/>
            </a:prstGeom>
            <a:solidFill>
              <a:schemeClr val="accent1"/>
            </a:solidFill>
            <a:ln/>
          </p:spPr>
        </p:sp>
        <p:pic>
          <p:nvPicPr>
            <p:cNvPr id="9" name="Image 1" descr="Medical condition"/>
            <p:cNvPicPr>
              <a:picLocks noChangeAspect="1"/>
            </p:cNvPicPr>
            <p:nvPr/>
          </p:nvPicPr>
          <p:blipFill>
            <a:blip r:embed="rId3"/>
            <a:stretch>
              <a:fillRect/>
            </a:stretch>
          </p:blipFill>
          <p:spPr>
            <a:xfrm>
              <a:off x="662940" y="2903220"/>
              <a:ext cx="192024" cy="192024"/>
            </a:xfrm>
            <a:prstGeom prst="rect">
              <a:avLst/>
            </a:prstGeom>
          </p:spPr>
        </p:pic>
        <p:sp>
          <p:nvSpPr>
            <p:cNvPr id="10" name="Text 6"/>
            <p:cNvSpPr txBox="1"/>
            <p:nvPr/>
          </p:nvSpPr>
          <p:spPr>
            <a:xfrm>
              <a:off x="1051560" y="2807208"/>
              <a:ext cx="1965960" cy="384048"/>
            </a:xfrm>
            <a:prstGeom prst="rect">
              <a:avLst/>
            </a:prstGeom>
            <a:noFill/>
            <a:ln/>
          </p:spPr>
          <p:txBody>
            <a:bodyPr wrap="square" lIns="0" tIns="0" rIns="0" bIns="0" rtlCol="0" anchor="ctr"/>
            <a:lstStyle/>
            <a:p>
              <a:pPr marL="0" indent="0">
                <a:buNone/>
              </a:pPr>
              <a:r>
                <a:rPr lang="en-US" sz="1300" b="1" dirty="0">
                  <a:solidFill>
                    <a:schemeClr val="tx2"/>
                  </a:solidFill>
                </a:rPr>
                <a:t>Medical condition</a:t>
              </a:r>
              <a:endParaRPr lang="en-US" sz="1300" dirty="0"/>
            </a:p>
          </p:txBody>
        </p:sp>
        <p:sp>
          <p:nvSpPr>
            <p:cNvPr id="11" name="Text 7"/>
            <p:cNvSpPr txBox="1"/>
            <p:nvPr/>
          </p:nvSpPr>
          <p:spPr>
            <a:xfrm>
              <a:off x="594360" y="3291840"/>
              <a:ext cx="2395728" cy="731520"/>
            </a:xfrm>
            <a:prstGeom prst="rect">
              <a:avLst/>
            </a:prstGeom>
            <a:noFill/>
            <a:ln/>
          </p:spPr>
          <p:txBody>
            <a:bodyPr wrap="square" lIns="0" tIns="0" rIns="0" bIns="0" rtlCol="0" anchor="t"/>
            <a:lstStyle/>
            <a:p>
              <a:pPr marL="0" indent="0">
                <a:buNone/>
              </a:pPr>
              <a:r>
                <a:rPr lang="en-US" sz="1050" dirty="0">
                  <a:solidFill>
                    <a:schemeClr val="tx1"/>
                  </a:solidFill>
                </a:rPr>
                <a:t>Which conditions appear most often among admissions, and how do billing and stay compare across them?</a:t>
              </a:r>
              <a:endParaRPr lang="en-US" sz="1050" dirty="0"/>
            </a:p>
          </p:txBody>
        </p:sp>
      </p:grpSp>
      <p:grpSp>
        <p:nvGrpSpPr>
          <p:cNvPr id="36" name="Group 35">
            <a:extLst>
              <a:ext uri="{FF2B5EF4-FFF2-40B4-BE49-F238E27FC236}">
                <a16:creationId xmlns:a16="http://schemas.microsoft.com/office/drawing/2014/main" id="{287E67A7-B447-0EDA-DF59-47F3743C07FC}"/>
              </a:ext>
            </a:extLst>
          </p:cNvPr>
          <p:cNvGrpSpPr/>
          <p:nvPr/>
        </p:nvGrpSpPr>
        <p:grpSpPr>
          <a:xfrm>
            <a:off x="3314700" y="1715414"/>
            <a:ext cx="2532888" cy="1688968"/>
            <a:chOff x="3246120" y="2697480"/>
            <a:chExt cx="2651760" cy="1371600"/>
          </a:xfrm>
        </p:grpSpPr>
        <p:sp>
          <p:nvSpPr>
            <p:cNvPr id="15" name="card"/>
            <p:cNvSpPr/>
            <p:nvPr/>
          </p:nvSpPr>
          <p:spPr>
            <a:xfrm>
              <a:off x="3246120" y="2697480"/>
              <a:ext cx="2651760" cy="1371600"/>
            </a:xfrm>
            <a:prstGeom prst="roundRect">
              <a:avLst>
                <a:gd name="adj" fmla="val 5333"/>
              </a:avLst>
            </a:prstGeom>
            <a:solidFill>
              <a:schemeClr val="bg2"/>
            </a:solidFill>
            <a:ln w="9525">
              <a:solidFill>
                <a:srgbClr val="D5E3EC"/>
              </a:solidFill>
              <a:prstDash val="solid"/>
            </a:ln>
          </p:spPr>
        </p:sp>
        <p:grpSp>
          <p:nvGrpSpPr>
            <p:cNvPr id="35" name="Group 34">
              <a:extLst>
                <a:ext uri="{FF2B5EF4-FFF2-40B4-BE49-F238E27FC236}">
                  <a16:creationId xmlns:a16="http://schemas.microsoft.com/office/drawing/2014/main" id="{869A7429-476B-0A33-4391-37D3AE0F275B}"/>
                </a:ext>
              </a:extLst>
            </p:cNvPr>
            <p:cNvGrpSpPr/>
            <p:nvPr/>
          </p:nvGrpSpPr>
          <p:grpSpPr>
            <a:xfrm>
              <a:off x="3355848" y="2807208"/>
              <a:ext cx="2450592" cy="1216152"/>
              <a:chOff x="3355848" y="2807208"/>
              <a:chExt cx="2450592" cy="1216152"/>
            </a:xfrm>
          </p:grpSpPr>
          <p:sp>
            <p:nvSpPr>
              <p:cNvPr id="16" name="iconbg"/>
              <p:cNvSpPr/>
              <p:nvPr/>
            </p:nvSpPr>
            <p:spPr>
              <a:xfrm>
                <a:off x="3355848" y="2807208"/>
                <a:ext cx="384048" cy="384048"/>
              </a:xfrm>
              <a:prstGeom prst="ellipse">
                <a:avLst/>
              </a:prstGeom>
              <a:solidFill>
                <a:schemeClr val="accent2"/>
              </a:solidFill>
              <a:ln/>
            </p:spPr>
          </p:sp>
          <p:pic>
            <p:nvPicPr>
              <p:cNvPr id="17" name="Image 3" descr="Admission type"/>
              <p:cNvPicPr>
                <a:picLocks noChangeAspect="1"/>
              </p:cNvPicPr>
              <p:nvPr/>
            </p:nvPicPr>
            <p:blipFill>
              <a:blip r:embed="rId4"/>
              <a:stretch>
                <a:fillRect/>
              </a:stretch>
            </p:blipFill>
            <p:spPr>
              <a:xfrm>
                <a:off x="3451860" y="2903220"/>
                <a:ext cx="192024" cy="192024"/>
              </a:xfrm>
              <a:prstGeom prst="rect">
                <a:avLst/>
              </a:prstGeom>
            </p:spPr>
          </p:pic>
          <p:sp>
            <p:nvSpPr>
              <p:cNvPr id="18" name="Text 12"/>
              <p:cNvSpPr txBox="1"/>
              <p:nvPr/>
            </p:nvSpPr>
            <p:spPr>
              <a:xfrm>
                <a:off x="3840480" y="2807208"/>
                <a:ext cx="1965960" cy="384048"/>
              </a:xfrm>
              <a:prstGeom prst="rect">
                <a:avLst/>
              </a:prstGeom>
              <a:noFill/>
              <a:ln/>
            </p:spPr>
            <p:txBody>
              <a:bodyPr wrap="square" lIns="0" tIns="0" rIns="0" bIns="0" rtlCol="0" anchor="ctr"/>
              <a:lstStyle/>
              <a:p>
                <a:pPr marL="0" indent="0">
                  <a:buNone/>
                </a:pPr>
                <a:r>
                  <a:rPr lang="en-US" sz="1300" b="1" dirty="0">
                    <a:solidFill>
                      <a:schemeClr val="tx2"/>
                    </a:solidFill>
                  </a:rPr>
                  <a:t>Admission type</a:t>
                </a:r>
                <a:endParaRPr lang="en-US" sz="1300" dirty="0"/>
              </a:p>
            </p:txBody>
          </p:sp>
          <p:sp>
            <p:nvSpPr>
              <p:cNvPr id="19" name="Text 13"/>
              <p:cNvSpPr txBox="1"/>
              <p:nvPr/>
            </p:nvSpPr>
            <p:spPr>
              <a:xfrm>
                <a:off x="3383280" y="3291840"/>
                <a:ext cx="2395728" cy="731520"/>
              </a:xfrm>
              <a:prstGeom prst="rect">
                <a:avLst/>
              </a:prstGeom>
              <a:noFill/>
              <a:ln/>
            </p:spPr>
            <p:txBody>
              <a:bodyPr wrap="square" lIns="0" tIns="0" rIns="0" bIns="0" rtlCol="0" anchor="t"/>
              <a:lstStyle/>
              <a:p>
                <a:pPr marL="0" indent="0">
                  <a:buNone/>
                </a:pPr>
                <a:r>
                  <a:rPr lang="en-US" sz="1050" dirty="0">
                    <a:solidFill>
                      <a:schemeClr val="tx1"/>
                    </a:solidFill>
                  </a:rPr>
                  <a:t>How are admissions split by type, and what are the billing and stay patterns for each?</a:t>
                </a:r>
                <a:endParaRPr lang="en-US" sz="1050" dirty="0"/>
              </a:p>
            </p:txBody>
          </p:sp>
        </p:grpSp>
      </p:grpSp>
      <p:sp>
        <p:nvSpPr>
          <p:cNvPr id="28" name="Shape 20"/>
          <p:cNvSpPr/>
          <p:nvPr/>
        </p:nvSpPr>
        <p:spPr>
          <a:xfrm>
            <a:off x="457200" y="4206240"/>
            <a:ext cx="8229600" cy="411480"/>
          </a:xfrm>
          <a:prstGeom prst="roundRect">
            <a:avLst>
              <a:gd name="adj" fmla="val 17778"/>
            </a:avLst>
          </a:prstGeom>
          <a:solidFill>
            <a:schemeClr val="tx2"/>
          </a:solidFill>
          <a:ln/>
        </p:spPr>
      </p:sp>
      <p:sp>
        <p:nvSpPr>
          <p:cNvPr id="29" name="Text 21"/>
          <p:cNvSpPr txBox="1"/>
          <p:nvPr/>
        </p:nvSpPr>
        <p:spPr>
          <a:xfrm>
            <a:off x="640080" y="4206240"/>
            <a:ext cx="7863840" cy="411480"/>
          </a:xfrm>
          <a:prstGeom prst="rect">
            <a:avLst/>
          </a:prstGeom>
          <a:noFill/>
          <a:ln/>
        </p:spPr>
        <p:txBody>
          <a:bodyPr wrap="square" lIns="0" tIns="0" rIns="0" bIns="0" rtlCol="0" anchor="ctr"/>
          <a:lstStyle/>
          <a:p>
            <a:pPr marL="0" indent="0" algn="ctr">
              <a:buNone/>
            </a:pPr>
            <a:r>
              <a:rPr lang="en-US" sz="1200" b="1" dirty="0">
                <a:solidFill>
                  <a:schemeClr val="bg1"/>
                </a:solidFill>
              </a:rPr>
              <a:t>Across all views: admission counts  ·  billing summaries  ·  length-of-stay patterns</a:t>
            </a:r>
            <a:endParaRPr lang="en-US" sz="1200" dirty="0"/>
          </a:p>
        </p:txBody>
      </p:sp>
      <p:sp>
        <p:nvSpPr>
          <p:cNvPr id="30"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8</a:t>
            </a:fld>
            <a:endParaRPr lang="en-US"/>
          </a:p>
        </p:txBody>
      </p:sp>
      <p:grpSp>
        <p:nvGrpSpPr>
          <p:cNvPr id="50" name="Group 49">
            <a:extLst>
              <a:ext uri="{FF2B5EF4-FFF2-40B4-BE49-F238E27FC236}">
                <a16:creationId xmlns:a16="http://schemas.microsoft.com/office/drawing/2014/main" id="{4D5F1C90-4FB0-72EC-3B89-2C59F8E4009D}"/>
              </a:ext>
            </a:extLst>
          </p:cNvPr>
          <p:cNvGrpSpPr/>
          <p:nvPr/>
        </p:nvGrpSpPr>
        <p:grpSpPr>
          <a:xfrm>
            <a:off x="6153914" y="1715414"/>
            <a:ext cx="2532886" cy="1688968"/>
            <a:chOff x="6007608" y="2697480"/>
            <a:chExt cx="2651760" cy="1371600"/>
          </a:xfrm>
        </p:grpSpPr>
        <p:sp>
          <p:nvSpPr>
            <p:cNvPr id="44" name="card">
              <a:extLst>
                <a:ext uri="{FF2B5EF4-FFF2-40B4-BE49-F238E27FC236}">
                  <a16:creationId xmlns:a16="http://schemas.microsoft.com/office/drawing/2014/main" id="{0DEC0CB5-0390-9647-1DF7-435BFC67409A}"/>
                </a:ext>
              </a:extLst>
            </p:cNvPr>
            <p:cNvSpPr/>
            <p:nvPr/>
          </p:nvSpPr>
          <p:spPr>
            <a:xfrm>
              <a:off x="6007608" y="2697480"/>
              <a:ext cx="2651760" cy="1371600"/>
            </a:xfrm>
            <a:prstGeom prst="roundRect">
              <a:avLst>
                <a:gd name="adj" fmla="val 5333"/>
              </a:avLst>
            </a:prstGeom>
            <a:solidFill>
              <a:schemeClr val="bg2"/>
            </a:solidFill>
            <a:ln w="9525">
              <a:solidFill>
                <a:srgbClr val="D5E3EC"/>
              </a:solidFill>
              <a:prstDash val="solid"/>
            </a:ln>
          </p:spPr>
        </p:sp>
        <p:grpSp>
          <p:nvGrpSpPr>
            <p:cNvPr id="49" name="Group 48">
              <a:extLst>
                <a:ext uri="{FF2B5EF4-FFF2-40B4-BE49-F238E27FC236}">
                  <a16:creationId xmlns:a16="http://schemas.microsoft.com/office/drawing/2014/main" id="{4F02D2FA-C511-AA6C-EE5E-F713581331D6}"/>
                </a:ext>
              </a:extLst>
            </p:cNvPr>
            <p:cNvGrpSpPr/>
            <p:nvPr/>
          </p:nvGrpSpPr>
          <p:grpSpPr>
            <a:xfrm>
              <a:off x="6117336" y="2807208"/>
              <a:ext cx="2450592" cy="1216152"/>
              <a:chOff x="6117336" y="2807208"/>
              <a:chExt cx="2450592" cy="1216152"/>
            </a:xfrm>
          </p:grpSpPr>
          <p:sp>
            <p:nvSpPr>
              <p:cNvPr id="45" name="iconbg">
                <a:extLst>
                  <a:ext uri="{FF2B5EF4-FFF2-40B4-BE49-F238E27FC236}">
                    <a16:creationId xmlns:a16="http://schemas.microsoft.com/office/drawing/2014/main" id="{7BE10828-6B74-EE22-DFC0-B215ED08DA07}"/>
                  </a:ext>
                </a:extLst>
              </p:cNvPr>
              <p:cNvSpPr/>
              <p:nvPr/>
            </p:nvSpPr>
            <p:spPr>
              <a:xfrm>
                <a:off x="6117336" y="2807208"/>
                <a:ext cx="384048" cy="384048"/>
              </a:xfrm>
              <a:prstGeom prst="ellipse">
                <a:avLst/>
              </a:prstGeom>
              <a:solidFill>
                <a:schemeClr val="accent3"/>
              </a:solidFill>
              <a:ln/>
            </p:spPr>
          </p:sp>
          <p:pic>
            <p:nvPicPr>
              <p:cNvPr id="46" name="Image 5" descr="Insurance provider">
                <a:extLst>
                  <a:ext uri="{FF2B5EF4-FFF2-40B4-BE49-F238E27FC236}">
                    <a16:creationId xmlns:a16="http://schemas.microsoft.com/office/drawing/2014/main" id="{37BBC707-1A47-31FB-DE76-B4575219E786}"/>
                  </a:ext>
                </a:extLst>
              </p:cNvPr>
              <p:cNvPicPr>
                <a:picLocks noChangeAspect="1"/>
              </p:cNvPicPr>
              <p:nvPr/>
            </p:nvPicPr>
            <p:blipFill>
              <a:blip r:embed="rId5"/>
              <a:stretch>
                <a:fillRect/>
              </a:stretch>
            </p:blipFill>
            <p:spPr>
              <a:xfrm>
                <a:off x="6213348" y="2903220"/>
                <a:ext cx="192024" cy="192024"/>
              </a:xfrm>
              <a:prstGeom prst="rect">
                <a:avLst/>
              </a:prstGeom>
            </p:spPr>
          </p:pic>
          <p:sp>
            <p:nvSpPr>
              <p:cNvPr id="47" name="Text 18">
                <a:extLst>
                  <a:ext uri="{FF2B5EF4-FFF2-40B4-BE49-F238E27FC236}">
                    <a16:creationId xmlns:a16="http://schemas.microsoft.com/office/drawing/2014/main" id="{28A73679-7431-8999-16F4-096DF19B55F4}"/>
                  </a:ext>
                </a:extLst>
              </p:cNvPr>
              <p:cNvSpPr txBox="1"/>
              <p:nvPr/>
            </p:nvSpPr>
            <p:spPr>
              <a:xfrm>
                <a:off x="6601968" y="2807208"/>
                <a:ext cx="1965960" cy="384048"/>
              </a:xfrm>
              <a:prstGeom prst="rect">
                <a:avLst/>
              </a:prstGeom>
              <a:noFill/>
              <a:ln/>
            </p:spPr>
            <p:txBody>
              <a:bodyPr wrap="square" lIns="0" tIns="0" rIns="0" bIns="0" rtlCol="0" anchor="ctr"/>
              <a:lstStyle/>
              <a:p>
                <a:pPr marL="0" indent="0">
                  <a:buNone/>
                </a:pPr>
                <a:r>
                  <a:rPr lang="en-US" sz="1300" b="1" dirty="0">
                    <a:solidFill>
                      <a:schemeClr val="tx2"/>
                    </a:solidFill>
                  </a:rPr>
                  <a:t>Insurance provider</a:t>
                </a:r>
                <a:endParaRPr lang="en-US" sz="1300" dirty="0"/>
              </a:p>
            </p:txBody>
          </p:sp>
          <p:sp>
            <p:nvSpPr>
              <p:cNvPr id="48" name="Text 19">
                <a:extLst>
                  <a:ext uri="{FF2B5EF4-FFF2-40B4-BE49-F238E27FC236}">
                    <a16:creationId xmlns:a16="http://schemas.microsoft.com/office/drawing/2014/main" id="{B5159F78-980D-5718-1ABE-4506891113AC}"/>
                  </a:ext>
                </a:extLst>
              </p:cNvPr>
              <p:cNvSpPr txBox="1"/>
              <p:nvPr/>
            </p:nvSpPr>
            <p:spPr>
              <a:xfrm>
                <a:off x="6144768" y="3291840"/>
                <a:ext cx="2395728" cy="731520"/>
              </a:xfrm>
              <a:prstGeom prst="rect">
                <a:avLst/>
              </a:prstGeom>
              <a:noFill/>
              <a:ln/>
            </p:spPr>
            <p:txBody>
              <a:bodyPr wrap="square" lIns="0" tIns="0" rIns="0" bIns="0" rtlCol="0" anchor="t"/>
              <a:lstStyle/>
              <a:p>
                <a:pPr marL="0" indent="0">
                  <a:buNone/>
                </a:pPr>
                <a:r>
                  <a:rPr lang="en-US" sz="1050" dirty="0">
                    <a:solidFill>
                      <a:schemeClr val="tx1"/>
                    </a:solidFill>
                  </a:rPr>
                  <a:t>How do providers compare on admission volume and recorded billing amounts?</a:t>
                </a:r>
                <a:endParaRPr lang="en-US" sz="1050" dirty="0"/>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VALIDATION &amp; LIMITATIONS</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Trust the totals, respect the limits</a:t>
            </a:r>
            <a:endParaRPr lang="en-US" sz="2600" dirty="0"/>
          </a:p>
        </p:txBody>
      </p:sp>
      <p:sp>
        <p:nvSpPr>
          <p:cNvPr id="4" name="Text 2"/>
          <p:cNvSpPr txBox="1"/>
          <p:nvPr/>
        </p:nvSpPr>
        <p:spPr>
          <a:xfrm>
            <a:off x="457200" y="1188720"/>
            <a:ext cx="3840480" cy="274320"/>
          </a:xfrm>
          <a:prstGeom prst="rect">
            <a:avLst/>
          </a:prstGeom>
          <a:noFill/>
          <a:ln/>
        </p:spPr>
        <p:txBody>
          <a:bodyPr wrap="square" lIns="0" tIns="0" rIns="0" bIns="0" rtlCol="0" anchor="t"/>
          <a:lstStyle/>
          <a:p>
            <a:pPr marL="0" indent="0">
              <a:buNone/>
            </a:pPr>
            <a:r>
              <a:rPr lang="en-US" sz="1400" b="1" dirty="0">
                <a:solidFill>
                  <a:schemeClr val="accent2"/>
                </a:solidFill>
              </a:rPr>
              <a:t>Three tools, one set of totals</a:t>
            </a:r>
            <a:endParaRPr lang="en-US" sz="1400" dirty="0"/>
          </a:p>
        </p:txBody>
      </p:sp>
      <p:sp>
        <p:nvSpPr>
          <p:cNvPr id="5" name="Shape 3"/>
          <p:cNvSpPr/>
          <p:nvPr/>
        </p:nvSpPr>
        <p:spPr>
          <a:xfrm>
            <a:off x="1508760" y="2926080"/>
            <a:ext cx="1737360" cy="0"/>
          </a:xfrm>
          <a:prstGeom prst="line">
            <a:avLst/>
          </a:prstGeom>
          <a:noFill/>
          <a:ln w="19050">
            <a:solidFill>
              <a:schemeClr val="accent5"/>
            </a:solidFill>
            <a:prstDash val="solid"/>
          </a:ln>
        </p:spPr>
      </p:sp>
      <p:sp>
        <p:nvSpPr>
          <p:cNvPr id="6" name="Shape 4"/>
          <p:cNvSpPr/>
          <p:nvPr/>
        </p:nvSpPr>
        <p:spPr>
          <a:xfrm flipH="1">
            <a:off x="1417320" y="2240280"/>
            <a:ext cx="685800" cy="365760"/>
          </a:xfrm>
          <a:prstGeom prst="line">
            <a:avLst/>
          </a:prstGeom>
          <a:noFill/>
          <a:ln w="19050">
            <a:solidFill>
              <a:schemeClr val="accent5"/>
            </a:solidFill>
            <a:prstDash val="solid"/>
          </a:ln>
        </p:spPr>
      </p:sp>
      <p:sp>
        <p:nvSpPr>
          <p:cNvPr id="7" name="Shape 5"/>
          <p:cNvSpPr/>
          <p:nvPr/>
        </p:nvSpPr>
        <p:spPr>
          <a:xfrm>
            <a:off x="2651760" y="2240280"/>
            <a:ext cx="685800" cy="365760"/>
          </a:xfrm>
          <a:prstGeom prst="line">
            <a:avLst/>
          </a:prstGeom>
          <a:noFill/>
          <a:ln w="19050">
            <a:solidFill>
              <a:schemeClr val="accent5"/>
            </a:solidFill>
            <a:prstDash val="solid"/>
          </a:ln>
        </p:spPr>
      </p:sp>
      <p:sp>
        <p:nvSpPr>
          <p:cNvPr id="8" name="iconbg"/>
          <p:cNvSpPr/>
          <p:nvPr/>
        </p:nvSpPr>
        <p:spPr>
          <a:xfrm>
            <a:off x="1965960" y="1508760"/>
            <a:ext cx="822960" cy="822960"/>
          </a:xfrm>
          <a:prstGeom prst="ellipse">
            <a:avLst/>
          </a:prstGeom>
          <a:solidFill>
            <a:schemeClr val="accent1"/>
          </a:solidFill>
          <a:ln/>
        </p:spPr>
      </p:sp>
      <p:pic>
        <p:nvPicPr>
          <p:cNvPr id="9" name="Image 0" descr="Python"/>
          <p:cNvPicPr>
            <a:picLocks noChangeAspect="1"/>
          </p:cNvPicPr>
          <p:nvPr/>
        </p:nvPicPr>
        <p:blipFill>
          <a:blip r:embed="rId3"/>
          <a:stretch>
            <a:fillRect/>
          </a:stretch>
        </p:blipFill>
        <p:spPr>
          <a:xfrm>
            <a:off x="2171700" y="1714500"/>
            <a:ext cx="411480" cy="411480"/>
          </a:xfrm>
          <a:prstGeom prst="rect">
            <a:avLst/>
          </a:prstGeom>
        </p:spPr>
      </p:pic>
      <p:sp>
        <p:nvSpPr>
          <p:cNvPr id="10" name="iconbg"/>
          <p:cNvSpPr/>
          <p:nvPr/>
        </p:nvSpPr>
        <p:spPr>
          <a:xfrm>
            <a:off x="685800" y="2514600"/>
            <a:ext cx="822960" cy="822960"/>
          </a:xfrm>
          <a:prstGeom prst="ellipse">
            <a:avLst/>
          </a:prstGeom>
          <a:solidFill>
            <a:schemeClr val="accent2"/>
          </a:solidFill>
          <a:ln/>
        </p:spPr>
      </p:sp>
      <p:pic>
        <p:nvPicPr>
          <p:cNvPr id="11" name="Image 1" descr="MySQL"/>
          <p:cNvPicPr>
            <a:picLocks noChangeAspect="1"/>
          </p:cNvPicPr>
          <p:nvPr/>
        </p:nvPicPr>
        <p:blipFill>
          <a:blip r:embed="rId4"/>
          <a:stretch>
            <a:fillRect/>
          </a:stretch>
        </p:blipFill>
        <p:spPr>
          <a:xfrm>
            <a:off x="891540" y="2720340"/>
            <a:ext cx="411480" cy="411480"/>
          </a:xfrm>
          <a:prstGeom prst="rect">
            <a:avLst/>
          </a:prstGeom>
        </p:spPr>
      </p:pic>
      <p:sp>
        <p:nvSpPr>
          <p:cNvPr id="12" name="iconbg"/>
          <p:cNvSpPr/>
          <p:nvPr/>
        </p:nvSpPr>
        <p:spPr>
          <a:xfrm>
            <a:off x="3246120" y="2514600"/>
            <a:ext cx="822960" cy="822960"/>
          </a:xfrm>
          <a:prstGeom prst="ellipse">
            <a:avLst/>
          </a:prstGeom>
          <a:solidFill>
            <a:schemeClr val="accent3"/>
          </a:solidFill>
          <a:ln/>
        </p:spPr>
      </p:sp>
      <p:pic>
        <p:nvPicPr>
          <p:cNvPr id="13" name="Image 2" descr="Power BI"/>
          <p:cNvPicPr>
            <a:picLocks noChangeAspect="1"/>
          </p:cNvPicPr>
          <p:nvPr/>
        </p:nvPicPr>
        <p:blipFill>
          <a:blip r:embed="rId5"/>
          <a:stretch>
            <a:fillRect/>
          </a:stretch>
        </p:blipFill>
        <p:spPr>
          <a:xfrm>
            <a:off x="3451860" y="2720340"/>
            <a:ext cx="411480" cy="411480"/>
          </a:xfrm>
          <a:prstGeom prst="rect">
            <a:avLst/>
          </a:prstGeom>
        </p:spPr>
      </p:pic>
      <p:sp>
        <p:nvSpPr>
          <p:cNvPr id="14" name="Text 9"/>
          <p:cNvSpPr txBox="1"/>
          <p:nvPr/>
        </p:nvSpPr>
        <p:spPr>
          <a:xfrm>
            <a:off x="1691640" y="2359152"/>
            <a:ext cx="1371600" cy="201168"/>
          </a:xfrm>
          <a:prstGeom prst="rect">
            <a:avLst/>
          </a:prstGeom>
          <a:noFill/>
          <a:ln/>
        </p:spPr>
        <p:txBody>
          <a:bodyPr wrap="square" lIns="0" tIns="0" rIns="0" bIns="0" rtlCol="0" anchor="t"/>
          <a:lstStyle/>
          <a:p>
            <a:pPr marL="0" indent="0" algn="ctr">
              <a:buNone/>
            </a:pPr>
            <a:r>
              <a:rPr lang="en-US" sz="1050" b="1" dirty="0">
                <a:solidFill>
                  <a:schemeClr val="tx2"/>
                </a:solidFill>
              </a:rPr>
              <a:t>Python</a:t>
            </a:r>
            <a:endParaRPr lang="en-US" sz="1050" dirty="0"/>
          </a:p>
        </p:txBody>
      </p:sp>
      <p:sp>
        <p:nvSpPr>
          <p:cNvPr id="15" name="Text 10"/>
          <p:cNvSpPr txBox="1"/>
          <p:nvPr/>
        </p:nvSpPr>
        <p:spPr>
          <a:xfrm>
            <a:off x="411480" y="3364992"/>
            <a:ext cx="1371600" cy="201168"/>
          </a:xfrm>
          <a:prstGeom prst="rect">
            <a:avLst/>
          </a:prstGeom>
          <a:noFill/>
          <a:ln/>
        </p:spPr>
        <p:txBody>
          <a:bodyPr wrap="square" lIns="0" tIns="0" rIns="0" bIns="0" rtlCol="0" anchor="t"/>
          <a:lstStyle/>
          <a:p>
            <a:pPr marL="0" indent="0" algn="ctr">
              <a:buNone/>
            </a:pPr>
            <a:r>
              <a:rPr lang="en-US" sz="1050" b="1" dirty="0">
                <a:solidFill>
                  <a:schemeClr val="tx2"/>
                </a:solidFill>
              </a:rPr>
              <a:t>MySQL</a:t>
            </a:r>
            <a:endParaRPr lang="en-US" sz="1050" dirty="0"/>
          </a:p>
        </p:txBody>
      </p:sp>
      <p:sp>
        <p:nvSpPr>
          <p:cNvPr id="16" name="Text 11"/>
          <p:cNvSpPr txBox="1"/>
          <p:nvPr/>
        </p:nvSpPr>
        <p:spPr>
          <a:xfrm>
            <a:off x="2971800" y="3364992"/>
            <a:ext cx="1371600" cy="201168"/>
          </a:xfrm>
          <a:prstGeom prst="rect">
            <a:avLst/>
          </a:prstGeom>
          <a:noFill/>
          <a:ln/>
        </p:spPr>
        <p:txBody>
          <a:bodyPr wrap="square" lIns="0" tIns="0" rIns="0" bIns="0" rtlCol="0" anchor="t"/>
          <a:lstStyle/>
          <a:p>
            <a:pPr marL="0" indent="0" algn="ctr">
              <a:buNone/>
            </a:pPr>
            <a:r>
              <a:rPr lang="en-US" sz="1050" b="1" dirty="0">
                <a:solidFill>
                  <a:schemeClr val="tx2"/>
                </a:solidFill>
              </a:rPr>
              <a:t>Power BI</a:t>
            </a:r>
            <a:endParaRPr lang="en-US" sz="1050" dirty="0"/>
          </a:p>
        </p:txBody>
      </p:sp>
      <p:sp>
        <p:nvSpPr>
          <p:cNvPr id="17" name="Text 12"/>
          <p:cNvSpPr txBox="1"/>
          <p:nvPr/>
        </p:nvSpPr>
        <p:spPr>
          <a:xfrm>
            <a:off x="457200" y="3749040"/>
            <a:ext cx="3840480" cy="822960"/>
          </a:xfrm>
          <a:prstGeom prst="rect">
            <a:avLst/>
          </a:prstGeom>
          <a:noFill/>
          <a:ln/>
        </p:spPr>
        <p:txBody>
          <a:bodyPr wrap="square" lIns="0" tIns="0" rIns="0" bIns="0" rtlCol="0" anchor="t"/>
          <a:lstStyle/>
          <a:p>
            <a:pPr marL="0" indent="0">
              <a:buNone/>
            </a:pPr>
            <a:r>
              <a:rPr lang="en-US" sz="1050" i="1" dirty="0">
                <a:solidFill>
                  <a:schemeClr val="accent5"/>
                </a:solidFill>
              </a:rPr>
              <a:t>Dashboard totals are validated against Python and SQL results. Reconciliation results were not in the supplied files — confirm before presenting as complete.</a:t>
            </a:r>
            <a:endParaRPr lang="en-US" sz="1050" dirty="0"/>
          </a:p>
        </p:txBody>
      </p:sp>
      <p:sp>
        <p:nvSpPr>
          <p:cNvPr id="18" name="Text 13"/>
          <p:cNvSpPr txBox="1"/>
          <p:nvPr/>
        </p:nvSpPr>
        <p:spPr>
          <a:xfrm>
            <a:off x="4572000" y="1188720"/>
            <a:ext cx="4114800" cy="274320"/>
          </a:xfrm>
          <a:prstGeom prst="rect">
            <a:avLst/>
          </a:prstGeom>
          <a:noFill/>
          <a:ln/>
        </p:spPr>
        <p:txBody>
          <a:bodyPr wrap="square" lIns="0" tIns="0" rIns="0" bIns="0" rtlCol="0" anchor="t"/>
          <a:lstStyle/>
          <a:p>
            <a:pPr marL="0" indent="0">
              <a:buNone/>
            </a:pPr>
            <a:r>
              <a:rPr lang="en-US" sz="1400" b="1" dirty="0">
                <a:solidFill>
                  <a:schemeClr val="accent2"/>
                </a:solidFill>
              </a:rPr>
              <a:t>Data limitations</a:t>
            </a:r>
            <a:endParaRPr lang="en-US" sz="1400" dirty="0"/>
          </a:p>
        </p:txBody>
      </p:sp>
      <p:sp>
        <p:nvSpPr>
          <p:cNvPr id="19" name="card"/>
          <p:cNvSpPr/>
          <p:nvPr/>
        </p:nvSpPr>
        <p:spPr>
          <a:xfrm>
            <a:off x="4572000" y="1508760"/>
            <a:ext cx="4114800" cy="512064"/>
          </a:xfrm>
          <a:prstGeom prst="roundRect">
            <a:avLst>
              <a:gd name="adj" fmla="val 14286"/>
            </a:avLst>
          </a:prstGeom>
          <a:solidFill>
            <a:schemeClr val="bg2"/>
          </a:solidFill>
          <a:ln w="9525">
            <a:solidFill>
              <a:srgbClr val="D5E3EC"/>
            </a:solidFill>
            <a:prstDash val="solid"/>
          </a:ln>
        </p:spPr>
      </p:sp>
      <p:sp>
        <p:nvSpPr>
          <p:cNvPr id="20" name="Shape 15"/>
          <p:cNvSpPr/>
          <p:nvPr/>
        </p:nvSpPr>
        <p:spPr>
          <a:xfrm>
            <a:off x="4581144" y="1581912"/>
            <a:ext cx="64008" cy="365760"/>
          </a:xfrm>
          <a:prstGeom prst="rect">
            <a:avLst/>
          </a:prstGeom>
          <a:solidFill>
            <a:schemeClr val="accent1"/>
          </a:solidFill>
          <a:ln/>
        </p:spPr>
      </p:sp>
      <p:sp>
        <p:nvSpPr>
          <p:cNvPr id="21" name="Text 16"/>
          <p:cNvSpPr txBox="1"/>
          <p:nvPr/>
        </p:nvSpPr>
        <p:spPr>
          <a:xfrm>
            <a:off x="4800600" y="1508760"/>
            <a:ext cx="3794760" cy="512064"/>
          </a:xfrm>
          <a:prstGeom prst="rect">
            <a:avLst/>
          </a:prstGeom>
          <a:noFill/>
          <a:ln/>
        </p:spPr>
        <p:txBody>
          <a:bodyPr wrap="square" lIns="0" tIns="0" rIns="0" bIns="0" rtlCol="0" anchor="ctr"/>
          <a:lstStyle/>
          <a:p>
            <a:pPr marL="0" indent="0">
              <a:buNone/>
            </a:pPr>
            <a:r>
              <a:rPr lang="en-US" sz="1150" b="1" dirty="0">
                <a:solidFill>
                  <a:schemeClr val="tx1"/>
                </a:solidFill>
              </a:rPr>
              <a:t>Findings describe this dataset only</a:t>
            </a:r>
            <a:endParaRPr lang="en-US" sz="1150" dirty="0"/>
          </a:p>
        </p:txBody>
      </p:sp>
      <p:sp>
        <p:nvSpPr>
          <p:cNvPr id="22" name="card"/>
          <p:cNvSpPr/>
          <p:nvPr/>
        </p:nvSpPr>
        <p:spPr>
          <a:xfrm>
            <a:off x="4572000" y="2130552"/>
            <a:ext cx="4114800" cy="512064"/>
          </a:xfrm>
          <a:prstGeom prst="roundRect">
            <a:avLst>
              <a:gd name="adj" fmla="val 14286"/>
            </a:avLst>
          </a:prstGeom>
          <a:solidFill>
            <a:schemeClr val="bg2"/>
          </a:solidFill>
          <a:ln w="9525">
            <a:solidFill>
              <a:srgbClr val="D5E3EC"/>
            </a:solidFill>
            <a:prstDash val="solid"/>
          </a:ln>
        </p:spPr>
      </p:sp>
      <p:sp>
        <p:nvSpPr>
          <p:cNvPr id="23" name="Shape 18"/>
          <p:cNvSpPr/>
          <p:nvPr/>
        </p:nvSpPr>
        <p:spPr>
          <a:xfrm>
            <a:off x="4581144" y="2203704"/>
            <a:ext cx="64008" cy="365760"/>
          </a:xfrm>
          <a:prstGeom prst="rect">
            <a:avLst/>
          </a:prstGeom>
          <a:solidFill>
            <a:schemeClr val="accent2"/>
          </a:solidFill>
          <a:ln/>
        </p:spPr>
      </p:sp>
      <p:sp>
        <p:nvSpPr>
          <p:cNvPr id="24" name="Text 19"/>
          <p:cNvSpPr txBox="1"/>
          <p:nvPr/>
        </p:nvSpPr>
        <p:spPr>
          <a:xfrm>
            <a:off x="4800600" y="2130552"/>
            <a:ext cx="3794760" cy="512064"/>
          </a:xfrm>
          <a:prstGeom prst="rect">
            <a:avLst/>
          </a:prstGeom>
          <a:noFill/>
          <a:ln/>
        </p:spPr>
        <p:txBody>
          <a:bodyPr wrap="square" lIns="0" tIns="0" rIns="0" bIns="0" rtlCol="0" anchor="ctr"/>
          <a:lstStyle/>
          <a:p>
            <a:pPr marL="0" indent="0">
              <a:buNone/>
            </a:pPr>
            <a:r>
              <a:rPr lang="en-US" sz="1150" b="1" dirty="0">
                <a:solidFill>
                  <a:schemeClr val="tx1"/>
                </a:solidFill>
              </a:rPr>
              <a:t>Not causal or clinically validated conclusions</a:t>
            </a:r>
            <a:endParaRPr lang="en-US" sz="1150" dirty="0"/>
          </a:p>
        </p:txBody>
      </p:sp>
      <p:sp>
        <p:nvSpPr>
          <p:cNvPr id="25" name="card"/>
          <p:cNvSpPr/>
          <p:nvPr/>
        </p:nvSpPr>
        <p:spPr>
          <a:xfrm>
            <a:off x="4572000" y="2752344"/>
            <a:ext cx="4114800" cy="512064"/>
          </a:xfrm>
          <a:prstGeom prst="roundRect">
            <a:avLst>
              <a:gd name="adj" fmla="val 14286"/>
            </a:avLst>
          </a:prstGeom>
          <a:solidFill>
            <a:schemeClr val="bg2"/>
          </a:solidFill>
          <a:ln w="9525">
            <a:solidFill>
              <a:srgbClr val="D5E3EC"/>
            </a:solidFill>
            <a:prstDash val="solid"/>
          </a:ln>
        </p:spPr>
      </p:sp>
      <p:sp>
        <p:nvSpPr>
          <p:cNvPr id="26" name="Shape 21"/>
          <p:cNvSpPr/>
          <p:nvPr/>
        </p:nvSpPr>
        <p:spPr>
          <a:xfrm>
            <a:off x="4581144" y="2825496"/>
            <a:ext cx="64008" cy="365760"/>
          </a:xfrm>
          <a:prstGeom prst="rect">
            <a:avLst/>
          </a:prstGeom>
          <a:solidFill>
            <a:schemeClr val="accent3"/>
          </a:solidFill>
          <a:ln/>
        </p:spPr>
      </p:sp>
      <p:sp>
        <p:nvSpPr>
          <p:cNvPr id="27" name="Text 22"/>
          <p:cNvSpPr txBox="1"/>
          <p:nvPr/>
        </p:nvSpPr>
        <p:spPr>
          <a:xfrm>
            <a:off x="4800600" y="2752344"/>
            <a:ext cx="3794760" cy="512064"/>
          </a:xfrm>
          <a:prstGeom prst="rect">
            <a:avLst/>
          </a:prstGeom>
          <a:noFill/>
          <a:ln/>
        </p:spPr>
        <p:txBody>
          <a:bodyPr wrap="square" lIns="0" tIns="0" rIns="0" bIns="0" rtlCol="0" anchor="ctr"/>
          <a:lstStyle/>
          <a:p>
            <a:pPr marL="0" indent="0">
              <a:buNone/>
            </a:pPr>
            <a:r>
              <a:rPr lang="en-US" sz="1150" b="1" dirty="0">
                <a:solidFill>
                  <a:schemeClr val="tx1"/>
                </a:solidFill>
              </a:rPr>
              <a:t>No employee data included</a:t>
            </a:r>
            <a:endParaRPr lang="en-US" sz="1150" dirty="0"/>
          </a:p>
        </p:txBody>
      </p:sp>
      <p:sp>
        <p:nvSpPr>
          <p:cNvPr id="28" name="card"/>
          <p:cNvSpPr/>
          <p:nvPr/>
        </p:nvSpPr>
        <p:spPr>
          <a:xfrm>
            <a:off x="4572000" y="3374136"/>
            <a:ext cx="4114800" cy="512064"/>
          </a:xfrm>
          <a:prstGeom prst="roundRect">
            <a:avLst>
              <a:gd name="adj" fmla="val 14286"/>
            </a:avLst>
          </a:prstGeom>
          <a:solidFill>
            <a:schemeClr val="bg2"/>
          </a:solidFill>
          <a:ln w="9525">
            <a:solidFill>
              <a:srgbClr val="D5E3EC"/>
            </a:solidFill>
            <a:prstDash val="solid"/>
          </a:ln>
        </p:spPr>
      </p:sp>
      <p:sp>
        <p:nvSpPr>
          <p:cNvPr id="29" name="Shape 24"/>
          <p:cNvSpPr/>
          <p:nvPr/>
        </p:nvSpPr>
        <p:spPr>
          <a:xfrm>
            <a:off x="4581144" y="3447288"/>
            <a:ext cx="64008" cy="365760"/>
          </a:xfrm>
          <a:prstGeom prst="rect">
            <a:avLst/>
          </a:prstGeom>
          <a:solidFill>
            <a:schemeClr val="accent1"/>
          </a:solidFill>
          <a:ln/>
        </p:spPr>
      </p:sp>
      <p:sp>
        <p:nvSpPr>
          <p:cNvPr id="30" name="Text 25"/>
          <p:cNvSpPr txBox="1"/>
          <p:nvPr/>
        </p:nvSpPr>
        <p:spPr>
          <a:xfrm>
            <a:off x="4800600" y="3374136"/>
            <a:ext cx="3794760" cy="512064"/>
          </a:xfrm>
          <a:prstGeom prst="rect">
            <a:avLst/>
          </a:prstGeom>
          <a:noFill/>
          <a:ln/>
        </p:spPr>
        <p:txBody>
          <a:bodyPr wrap="square" lIns="0" tIns="0" rIns="0" bIns="0" rtlCol="0" anchor="ctr"/>
          <a:lstStyle/>
          <a:p>
            <a:pPr marL="0" indent="0">
              <a:buNone/>
            </a:pPr>
            <a:r>
              <a:rPr lang="en-US" sz="1150" b="1" dirty="0">
                <a:solidFill>
                  <a:schemeClr val="tx1"/>
                </a:solidFill>
              </a:rPr>
              <a:t>Cannot support treatment-effectiveness or readmission-rate claims</a:t>
            </a:r>
            <a:endParaRPr lang="en-US" sz="1150" dirty="0"/>
          </a:p>
        </p:txBody>
      </p:sp>
      <p:sp>
        <p:nvSpPr>
          <p:cNvPr id="31" name="card"/>
          <p:cNvSpPr/>
          <p:nvPr/>
        </p:nvSpPr>
        <p:spPr>
          <a:xfrm>
            <a:off x="4572000" y="3995928"/>
            <a:ext cx="4114800" cy="512064"/>
          </a:xfrm>
          <a:prstGeom prst="roundRect">
            <a:avLst>
              <a:gd name="adj" fmla="val 14286"/>
            </a:avLst>
          </a:prstGeom>
          <a:solidFill>
            <a:schemeClr val="bg2"/>
          </a:solidFill>
          <a:ln w="9525">
            <a:solidFill>
              <a:srgbClr val="D5E3EC"/>
            </a:solidFill>
            <a:prstDash val="solid"/>
          </a:ln>
        </p:spPr>
      </p:sp>
      <p:sp>
        <p:nvSpPr>
          <p:cNvPr id="32" name="Shape 27"/>
          <p:cNvSpPr/>
          <p:nvPr/>
        </p:nvSpPr>
        <p:spPr>
          <a:xfrm>
            <a:off x="4581144" y="4069080"/>
            <a:ext cx="64008" cy="365760"/>
          </a:xfrm>
          <a:prstGeom prst="rect">
            <a:avLst/>
          </a:prstGeom>
          <a:solidFill>
            <a:schemeClr val="accent4"/>
          </a:solidFill>
          <a:ln/>
        </p:spPr>
      </p:sp>
      <p:sp>
        <p:nvSpPr>
          <p:cNvPr id="33" name="Text 28"/>
          <p:cNvSpPr txBox="1"/>
          <p:nvPr/>
        </p:nvSpPr>
        <p:spPr>
          <a:xfrm>
            <a:off x="4800600" y="3995928"/>
            <a:ext cx="3794760" cy="512064"/>
          </a:xfrm>
          <a:prstGeom prst="rect">
            <a:avLst/>
          </a:prstGeom>
          <a:noFill/>
          <a:ln/>
        </p:spPr>
        <p:txBody>
          <a:bodyPr wrap="square" lIns="0" tIns="0" rIns="0" bIns="0" rtlCol="0" anchor="ctr"/>
          <a:lstStyle/>
          <a:p>
            <a:pPr marL="0" indent="0">
              <a:buNone/>
            </a:pPr>
            <a:r>
              <a:rPr lang="en-US" sz="1150" b="1" dirty="0">
                <a:solidFill>
                  <a:schemeClr val="tx1"/>
                </a:solidFill>
              </a:rPr>
              <a:t>106 nonpositive billing records need review</a:t>
            </a:r>
            <a:endParaRPr lang="en-US" sz="1150" dirty="0"/>
          </a:p>
        </p:txBody>
      </p:sp>
      <p:sp>
        <p:nvSpPr>
          <p:cNvPr id="34"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28600"/>
            <a:ext cx="5486400" cy="228600"/>
          </a:xfrm>
          <a:prstGeom prst="rect">
            <a:avLst/>
          </a:prstGeom>
          <a:noFill/>
          <a:ln/>
        </p:spPr>
        <p:txBody>
          <a:bodyPr wrap="square" lIns="0" tIns="0" rIns="0" bIns="0" rtlCol="0" anchor="t"/>
          <a:lstStyle/>
          <a:p>
            <a:pPr marL="0" indent="0">
              <a:buNone/>
            </a:pPr>
            <a:r>
              <a:rPr lang="en-US" sz="1000" b="1" kern="0" spc="200" dirty="0">
                <a:solidFill>
                  <a:schemeClr val="accent2"/>
                </a:solidFill>
              </a:rPr>
              <a:t>RECOMMENDATIONS &amp; CONCLUSION</a:t>
            </a:r>
            <a:endParaRPr lang="en-US" sz="1000" dirty="0"/>
          </a:p>
        </p:txBody>
      </p:sp>
      <p:sp>
        <p:nvSpPr>
          <p:cNvPr id="3" name="Text 4"/>
          <p:cNvSpPr>
            <a:spLocks noGrp="1"/>
          </p:cNvSpPr>
          <p:nvPr>
            <p:ph type="title" idx="104" hasCustomPrompt="1"/>
          </p:nvPr>
        </p:nvSpPr>
        <p:spPr>
          <a:xfrm>
            <a:off x="457200" y="457200"/>
            <a:ext cx="8229600" cy="594360"/>
          </a:xfrm>
          <a:prstGeom prst="rect">
            <a:avLst/>
          </a:prstGeom>
          <a:noFill/>
          <a:ln/>
        </p:spPr>
        <p:txBody>
          <a:bodyPr wrap="square" lIns="0" tIns="0" rIns="0" bIns="0" rtlCol="0" anchor="ctr"/>
          <a:lstStyle/>
          <a:p>
            <a:pPr marL="0" indent="0" algn="l">
              <a:buNone/>
            </a:pPr>
            <a:r>
              <a:rPr lang="en-US" sz="2600" b="1" dirty="0">
                <a:solidFill>
                  <a:schemeClr val="tx2"/>
                </a:solidFill>
              </a:rPr>
              <a:t>Next steps and takeaway</a:t>
            </a:r>
            <a:endParaRPr lang="en-US" sz="2600" dirty="0"/>
          </a:p>
        </p:txBody>
      </p:sp>
      <p:sp>
        <p:nvSpPr>
          <p:cNvPr id="4" name="card"/>
          <p:cNvSpPr/>
          <p:nvPr/>
        </p:nvSpPr>
        <p:spPr>
          <a:xfrm>
            <a:off x="457200" y="1234440"/>
            <a:ext cx="4846320" cy="594360"/>
          </a:xfrm>
          <a:prstGeom prst="roundRect">
            <a:avLst>
              <a:gd name="adj" fmla="val 12308"/>
            </a:avLst>
          </a:prstGeom>
          <a:solidFill>
            <a:schemeClr val="bg2"/>
          </a:solidFill>
          <a:ln w="9525">
            <a:solidFill>
              <a:srgbClr val="D5E3EC"/>
            </a:solidFill>
            <a:prstDash val="solid"/>
          </a:ln>
        </p:spPr>
      </p:sp>
      <p:sp>
        <p:nvSpPr>
          <p:cNvPr id="5" name="Shape 3"/>
          <p:cNvSpPr/>
          <p:nvPr/>
        </p:nvSpPr>
        <p:spPr>
          <a:xfrm>
            <a:off x="566928" y="1353312"/>
            <a:ext cx="365760" cy="365760"/>
          </a:xfrm>
          <a:prstGeom prst="ellipse">
            <a:avLst/>
          </a:prstGeom>
          <a:solidFill>
            <a:schemeClr val="accent4"/>
          </a:solidFill>
          <a:ln/>
        </p:spPr>
      </p:sp>
      <p:sp>
        <p:nvSpPr>
          <p:cNvPr id="6" name="Text 4"/>
          <p:cNvSpPr txBox="1"/>
          <p:nvPr/>
        </p:nvSpPr>
        <p:spPr>
          <a:xfrm>
            <a:off x="566928" y="1353312"/>
            <a:ext cx="365760" cy="365760"/>
          </a:xfrm>
          <a:prstGeom prst="rect">
            <a:avLst/>
          </a:prstGeom>
          <a:no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7" name="Text 5"/>
          <p:cNvSpPr txBox="1"/>
          <p:nvPr/>
        </p:nvSpPr>
        <p:spPr>
          <a:xfrm>
            <a:off x="1051560" y="1234440"/>
            <a:ext cx="4160520" cy="594360"/>
          </a:xfrm>
          <a:prstGeom prst="rect">
            <a:avLst/>
          </a:prstGeom>
          <a:noFill/>
          <a:ln/>
        </p:spPr>
        <p:txBody>
          <a:bodyPr wrap="square" lIns="0" tIns="0" rIns="0" bIns="0" rtlCol="0" anchor="ctr"/>
          <a:lstStyle/>
          <a:p>
            <a:pPr marL="0" indent="0">
              <a:buNone/>
            </a:pPr>
            <a:r>
              <a:rPr lang="en-US" sz="1100" dirty="0">
                <a:solidFill>
                  <a:schemeClr val="tx1"/>
                </a:solidFill>
              </a:rPr>
              <a:t>Review the 106 flagged billing records before billing totals are used in reports.</a:t>
            </a:r>
            <a:endParaRPr lang="en-US" sz="1100" dirty="0"/>
          </a:p>
        </p:txBody>
      </p:sp>
      <p:sp>
        <p:nvSpPr>
          <p:cNvPr id="8" name="card"/>
          <p:cNvSpPr/>
          <p:nvPr/>
        </p:nvSpPr>
        <p:spPr>
          <a:xfrm>
            <a:off x="457200" y="1920240"/>
            <a:ext cx="4846320" cy="594360"/>
          </a:xfrm>
          <a:prstGeom prst="roundRect">
            <a:avLst>
              <a:gd name="adj" fmla="val 12308"/>
            </a:avLst>
          </a:prstGeom>
          <a:solidFill>
            <a:schemeClr val="bg2"/>
          </a:solidFill>
          <a:ln w="9525">
            <a:solidFill>
              <a:srgbClr val="D5E3EC"/>
            </a:solidFill>
            <a:prstDash val="solid"/>
          </a:ln>
        </p:spPr>
      </p:sp>
      <p:sp>
        <p:nvSpPr>
          <p:cNvPr id="9" name="Shape 7"/>
          <p:cNvSpPr/>
          <p:nvPr/>
        </p:nvSpPr>
        <p:spPr>
          <a:xfrm>
            <a:off x="566928" y="2039112"/>
            <a:ext cx="365760" cy="365760"/>
          </a:xfrm>
          <a:prstGeom prst="ellipse">
            <a:avLst/>
          </a:prstGeom>
          <a:solidFill>
            <a:schemeClr val="accent1"/>
          </a:solidFill>
          <a:ln/>
        </p:spPr>
      </p:sp>
      <p:sp>
        <p:nvSpPr>
          <p:cNvPr id="10" name="Text 8"/>
          <p:cNvSpPr txBox="1"/>
          <p:nvPr/>
        </p:nvSpPr>
        <p:spPr>
          <a:xfrm>
            <a:off x="566928" y="203911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1051560" y="1920240"/>
            <a:ext cx="4160520" cy="594360"/>
          </a:xfrm>
          <a:prstGeom prst="rect">
            <a:avLst/>
          </a:prstGeom>
          <a:noFill/>
          <a:ln/>
        </p:spPr>
        <p:txBody>
          <a:bodyPr wrap="square" lIns="0" tIns="0" rIns="0" bIns="0" rtlCol="0" anchor="ctr"/>
          <a:lstStyle/>
          <a:p>
            <a:pPr marL="0" indent="0">
              <a:buNone/>
            </a:pPr>
            <a:r>
              <a:rPr lang="en-US" sz="1100" dirty="0">
                <a:solidFill>
                  <a:schemeClr val="tx1"/>
                </a:solidFill>
              </a:rPr>
              <a:t>Keep one validated dataset as the source for Python, SQL and Power BI; reconcile totals each refresh.</a:t>
            </a:r>
            <a:endParaRPr lang="en-US" sz="1100" dirty="0"/>
          </a:p>
        </p:txBody>
      </p:sp>
      <p:sp>
        <p:nvSpPr>
          <p:cNvPr id="12" name="card"/>
          <p:cNvSpPr/>
          <p:nvPr/>
        </p:nvSpPr>
        <p:spPr>
          <a:xfrm>
            <a:off x="457200" y="2606040"/>
            <a:ext cx="4846320" cy="594360"/>
          </a:xfrm>
          <a:prstGeom prst="roundRect">
            <a:avLst>
              <a:gd name="adj" fmla="val 12308"/>
            </a:avLst>
          </a:prstGeom>
          <a:solidFill>
            <a:schemeClr val="bg2"/>
          </a:solidFill>
          <a:ln w="9525">
            <a:solidFill>
              <a:srgbClr val="D5E3EC"/>
            </a:solidFill>
            <a:prstDash val="solid"/>
          </a:ln>
        </p:spPr>
      </p:sp>
      <p:sp>
        <p:nvSpPr>
          <p:cNvPr id="13" name="Shape 11"/>
          <p:cNvSpPr/>
          <p:nvPr/>
        </p:nvSpPr>
        <p:spPr>
          <a:xfrm>
            <a:off x="566928" y="2724912"/>
            <a:ext cx="365760" cy="365760"/>
          </a:xfrm>
          <a:prstGeom prst="ellipse">
            <a:avLst/>
          </a:prstGeom>
          <a:solidFill>
            <a:schemeClr val="accent2"/>
          </a:solidFill>
          <a:ln/>
        </p:spPr>
      </p:sp>
      <p:sp>
        <p:nvSpPr>
          <p:cNvPr id="14" name="Text 12"/>
          <p:cNvSpPr txBox="1"/>
          <p:nvPr/>
        </p:nvSpPr>
        <p:spPr>
          <a:xfrm>
            <a:off x="566928" y="272491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Text 13"/>
          <p:cNvSpPr txBox="1"/>
          <p:nvPr/>
        </p:nvSpPr>
        <p:spPr>
          <a:xfrm>
            <a:off x="1051560" y="2606040"/>
            <a:ext cx="4160520" cy="594360"/>
          </a:xfrm>
          <a:prstGeom prst="rect">
            <a:avLst/>
          </a:prstGeom>
          <a:noFill/>
          <a:ln/>
        </p:spPr>
        <p:txBody>
          <a:bodyPr wrap="square" lIns="0" tIns="0" rIns="0" bIns="0" rtlCol="0" anchor="ctr"/>
          <a:lstStyle/>
          <a:p>
            <a:pPr marL="0" indent="0">
              <a:buNone/>
            </a:pPr>
            <a:r>
              <a:rPr lang="en-US" sz="1100" dirty="0">
                <a:solidFill>
                  <a:schemeClr val="tx1"/>
                </a:solidFill>
              </a:rPr>
              <a:t>Standardise text entry at source to prevent duplicates and inconsistent formats.</a:t>
            </a:r>
            <a:endParaRPr lang="en-US" sz="1100" dirty="0"/>
          </a:p>
        </p:txBody>
      </p:sp>
      <p:sp>
        <p:nvSpPr>
          <p:cNvPr id="16" name="card"/>
          <p:cNvSpPr/>
          <p:nvPr/>
        </p:nvSpPr>
        <p:spPr>
          <a:xfrm>
            <a:off x="457200" y="3291840"/>
            <a:ext cx="4846320" cy="594360"/>
          </a:xfrm>
          <a:prstGeom prst="roundRect">
            <a:avLst>
              <a:gd name="adj" fmla="val 12308"/>
            </a:avLst>
          </a:prstGeom>
          <a:solidFill>
            <a:schemeClr val="bg2"/>
          </a:solidFill>
          <a:ln w="9525">
            <a:solidFill>
              <a:srgbClr val="D5E3EC"/>
            </a:solidFill>
            <a:prstDash val="solid"/>
          </a:ln>
        </p:spPr>
      </p:sp>
      <p:sp>
        <p:nvSpPr>
          <p:cNvPr id="17" name="Shape 15"/>
          <p:cNvSpPr/>
          <p:nvPr/>
        </p:nvSpPr>
        <p:spPr>
          <a:xfrm>
            <a:off x="566928" y="3410712"/>
            <a:ext cx="365760" cy="365760"/>
          </a:xfrm>
          <a:prstGeom prst="ellipse">
            <a:avLst/>
          </a:prstGeom>
          <a:solidFill>
            <a:schemeClr val="accent3"/>
          </a:solidFill>
          <a:ln/>
        </p:spPr>
      </p:sp>
      <p:sp>
        <p:nvSpPr>
          <p:cNvPr id="18" name="Text 16"/>
          <p:cNvSpPr txBox="1"/>
          <p:nvPr/>
        </p:nvSpPr>
        <p:spPr>
          <a:xfrm>
            <a:off x="566928" y="3410712"/>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7"/>
          <p:cNvSpPr txBox="1"/>
          <p:nvPr/>
        </p:nvSpPr>
        <p:spPr>
          <a:xfrm>
            <a:off x="1051560" y="3291840"/>
            <a:ext cx="4160520" cy="594360"/>
          </a:xfrm>
          <a:prstGeom prst="rect">
            <a:avLst/>
          </a:prstGeom>
          <a:noFill/>
          <a:ln/>
        </p:spPr>
        <p:txBody>
          <a:bodyPr wrap="square" lIns="0" tIns="0" rIns="0" bIns="0" rtlCol="0" anchor="ctr"/>
          <a:lstStyle/>
          <a:p>
            <a:pPr marL="0" indent="0">
              <a:buNone/>
            </a:pPr>
            <a:r>
              <a:rPr lang="en-US" sz="1100" dirty="0">
                <a:solidFill>
                  <a:schemeClr val="tx1"/>
                </a:solidFill>
              </a:rPr>
              <a:t>Use results for operations reporting — as descriptive patterns, not causal or clinical claims.</a:t>
            </a:r>
            <a:endParaRPr lang="en-US" sz="1100" dirty="0"/>
          </a:p>
        </p:txBody>
      </p:sp>
      <p:sp>
        <p:nvSpPr>
          <p:cNvPr id="20" name="Shape 18"/>
          <p:cNvSpPr/>
          <p:nvPr/>
        </p:nvSpPr>
        <p:spPr>
          <a:xfrm>
            <a:off x="457200" y="4023360"/>
            <a:ext cx="4846320" cy="594360"/>
          </a:xfrm>
          <a:prstGeom prst="roundRect">
            <a:avLst>
              <a:gd name="adj" fmla="val 12308"/>
            </a:avLst>
          </a:prstGeom>
          <a:solidFill>
            <a:schemeClr val="accent4">
              <a:alpha val="25000"/>
            </a:schemeClr>
          </a:solidFill>
          <a:ln w="9525">
            <a:solidFill>
              <a:schemeClr val="accent4"/>
            </a:solidFill>
            <a:prstDash val="solid"/>
          </a:ln>
        </p:spPr>
      </p:sp>
      <p:sp>
        <p:nvSpPr>
          <p:cNvPr id="21" name="Text 19"/>
          <p:cNvSpPr txBox="1"/>
          <p:nvPr/>
        </p:nvSpPr>
        <p:spPr>
          <a:xfrm>
            <a:off x="594360" y="4023360"/>
            <a:ext cx="4572000" cy="594360"/>
          </a:xfrm>
          <a:prstGeom prst="rect">
            <a:avLst/>
          </a:prstGeom>
          <a:noFill/>
          <a:ln/>
        </p:spPr>
        <p:txBody>
          <a:bodyPr wrap="square" lIns="0" tIns="0" rIns="0" bIns="0" rtlCol="0" anchor="ctr"/>
          <a:lstStyle/>
          <a:p>
            <a:pPr marL="0" indent="0">
              <a:buNone/>
            </a:pPr>
            <a:r>
              <a:rPr lang="en-US" sz="1050" b="1" dirty="0">
                <a:solidFill>
                  <a:schemeClr val="tx1"/>
                </a:solidFill>
              </a:rPr>
              <a:t>To confirm: dashboard screenshots, category-level values, and medication / test-result counts (not in the supplied files).</a:t>
            </a:r>
            <a:endParaRPr lang="en-US" sz="1050" dirty="0"/>
          </a:p>
        </p:txBody>
      </p:sp>
      <p:sp>
        <p:nvSpPr>
          <p:cNvPr id="22" name="Shape 20"/>
          <p:cNvSpPr/>
          <p:nvPr/>
        </p:nvSpPr>
        <p:spPr>
          <a:xfrm>
            <a:off x="5486400" y="1234440"/>
            <a:ext cx="3200400" cy="3383280"/>
          </a:xfrm>
          <a:prstGeom prst="roundRect">
            <a:avLst>
              <a:gd name="adj" fmla="val 2286"/>
            </a:avLst>
          </a:prstGeom>
          <a:solidFill>
            <a:schemeClr val="tx2"/>
          </a:solidFill>
          <a:ln/>
        </p:spPr>
      </p:sp>
      <p:pic>
        <p:nvPicPr>
          <p:cNvPr id="23" name="Image 0" descr="heartbeat icon"/>
          <p:cNvPicPr>
            <a:picLocks noChangeAspect="1"/>
          </p:cNvPicPr>
          <p:nvPr/>
        </p:nvPicPr>
        <p:blipFill>
          <a:blip r:embed="rId3"/>
          <a:stretch>
            <a:fillRect/>
          </a:stretch>
        </p:blipFill>
        <p:spPr>
          <a:xfrm>
            <a:off x="5715000" y="1417320"/>
            <a:ext cx="457200" cy="457200"/>
          </a:xfrm>
          <a:prstGeom prst="rect">
            <a:avLst/>
          </a:prstGeom>
        </p:spPr>
      </p:pic>
      <p:sp>
        <p:nvSpPr>
          <p:cNvPr id="24" name="Text 21"/>
          <p:cNvSpPr txBox="1"/>
          <p:nvPr/>
        </p:nvSpPr>
        <p:spPr>
          <a:xfrm>
            <a:off x="5715000" y="1965960"/>
            <a:ext cx="2743200" cy="320040"/>
          </a:xfrm>
          <a:prstGeom prst="rect">
            <a:avLst/>
          </a:prstGeom>
          <a:noFill/>
          <a:ln/>
        </p:spPr>
        <p:txBody>
          <a:bodyPr wrap="square" lIns="0" tIns="0" rIns="0" bIns="0" rtlCol="0" anchor="t"/>
          <a:lstStyle/>
          <a:p>
            <a:pPr marL="0" indent="0">
              <a:buNone/>
            </a:pPr>
            <a:r>
              <a:rPr lang="en-US" sz="1800" b="1" dirty="0">
                <a:solidFill>
                  <a:schemeClr val="bg1"/>
                </a:solidFill>
              </a:rPr>
              <a:t>Conclusion</a:t>
            </a:r>
            <a:endParaRPr lang="en-US" sz="1800" dirty="0"/>
          </a:p>
        </p:txBody>
      </p:sp>
      <p:sp>
        <p:nvSpPr>
          <p:cNvPr id="25" name="Text 22"/>
          <p:cNvSpPr txBox="1"/>
          <p:nvPr/>
        </p:nvSpPr>
        <p:spPr>
          <a:xfrm>
            <a:off x="5715000" y="2377440"/>
            <a:ext cx="2743200" cy="2148840"/>
          </a:xfrm>
          <a:prstGeom prst="rect">
            <a:avLst/>
          </a:prstGeom>
          <a:noFill/>
          <a:ln/>
        </p:spPr>
        <p:txBody>
          <a:bodyPr wrap="square" lIns="0" tIns="0" rIns="0" bIns="0" rtlCol="0" anchor="t"/>
          <a:lstStyle/>
          <a:p>
            <a:pPr marL="0" indent="0">
              <a:buNone/>
            </a:pPr>
            <a:r>
              <a:rPr lang="en-US" sz="1150" dirty="0">
                <a:solidFill>
                  <a:schemeClr val="bg1"/>
                </a:solidFill>
              </a:rPr>
              <a:t>A documented, validated dataset (55,500 → 54,966 records) now feeds reproducible Python analysis, a SQL query file and an interactive Power BI dashboard.</a:t>
            </a:r>
            <a:endParaRPr lang="en-US" sz="1150" dirty="0"/>
          </a:p>
          <a:p>
            <a:pPr marL="0" indent="0">
              <a:buNone/>
            </a:pPr>
            <a:endParaRPr lang="en-US" sz="1150" dirty="0"/>
          </a:p>
          <a:p>
            <a:pPr marL="0" indent="0">
              <a:buNone/>
            </a:pPr>
            <a:r>
              <a:rPr lang="en-US" sz="1150" dirty="0">
                <a:solidFill>
                  <a:schemeClr val="bg1"/>
                </a:solidFill>
              </a:rPr>
              <a:t>Together they turn admission records into clear, evidence-based insight for operations reporting — within the limits of this dataset.</a:t>
            </a:r>
            <a:endParaRPr lang="en-US" sz="1150" dirty="0"/>
          </a:p>
        </p:txBody>
      </p:sp>
      <p:sp>
        <p:nvSpPr>
          <p:cNvPr id="2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Healthcare Blue Teal">
  <a:themeElements>
    <a:clrScheme name="Healthcare Blue Teal">
      <a:dk1>
        <a:srgbClr val="0B2545"/>
      </a:dk1>
      <a:lt1>
        <a:srgbClr val="FFFFFF"/>
      </a:lt1>
      <a:dk2>
        <a:srgbClr val="134A86"/>
      </a:dk2>
      <a:lt2>
        <a:srgbClr val="EAF4FA"/>
      </a:lt2>
      <a:accent1>
        <a:srgbClr val="1E78C8"/>
      </a:accent1>
      <a:accent2>
        <a:srgbClr val="14A3A8"/>
      </a:accent2>
      <a:accent3>
        <a:srgbClr val="6BBF59"/>
      </a:accent3>
      <a:accent4>
        <a:srgbClr val="F2B84B"/>
      </a:accent4>
      <a:accent5>
        <a:srgbClr val="5B7C99"/>
      </a:accent5>
      <a:accent6>
        <a:srgbClr val="CDE9EC"/>
      </a:accent6>
      <a:hlink>
        <a:srgbClr val="1E78C8"/>
      </a:hlink>
      <a:folHlink>
        <a:srgbClr val="5B7C99"/>
      </a:folHlink>
    </a:clrScheme>
    <a:fontScheme name="Healthcare Blue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1265</Words>
  <Application>Microsoft Office PowerPoint</Application>
  <PresentationFormat>On-screen Show (16:9)</PresentationFormat>
  <Paragraphs>188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Healthcare Blue Teal</vt:lpstr>
      <vt:lpstr>Healthcare Patient Analytics</vt:lpstr>
      <vt:lpstr>Turning admission records into reliable insight</vt:lpstr>
      <vt:lpstr>What we started with</vt:lpstr>
      <vt:lpstr>From 55,500 raw rows to 54,966 clean records</vt:lpstr>
      <vt:lpstr>Derived fields and exploratory analysis</vt:lpstr>
      <vt:lpstr>Six query techniques answer the project questions</vt:lpstr>
      <vt:lpstr>One interactive view of admissions, billing and stay</vt:lpstr>
      <vt:lpstr>Three breakdowns drive the dashboard's story</vt:lpstr>
      <vt:lpstr>Trust the totals, respect the limits</vt:lpstr>
      <vt:lpstr>Next steps and takeaway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Patient Analytics: One Dataset, Three Tools — Python, MySQL, and Power BI</dc:title>
  <dc:subject>PptxGenJS Presentation</dc:subject>
  <dc:creator>PptxGenJS</dc:creator>
  <cp:lastModifiedBy>gopu thakur</cp:lastModifiedBy>
  <cp:revision>2</cp:revision>
  <dcterms:created xsi:type="dcterms:W3CDTF">2026-10-23T09:06:20Z</dcterms:created>
  <dcterms:modified xsi:type="dcterms:W3CDTF">2026-10-23T09:30:43Z</dcterms:modified>
</cp:coreProperties>
</file>